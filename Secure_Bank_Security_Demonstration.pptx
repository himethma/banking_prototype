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L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70442"/>
  </p:normalViewPr>
  <p:slideViewPr>
    <p:cSldViewPr snapToGrid="0">
      <p:cViewPr varScale="1">
        <p:scale>
          <a:sx n="87" d="100"/>
          <a:sy n="87" d="100"/>
        </p:scale>
        <p:origin x="144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For CW1, we designed a layered security architecture for an online bank. For this prototype, we wanted to go beyond just showing the diagram. We built the main controls, tested what happens when someone tries to bypass them, and made the results visible.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Rather than explaining every box separately, we are going to follow one test transaction through the system. First, we will look at how the data is encrypted and signed. Then we will check the connections between services. Finally, we will show the monitoring and recovery side.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At the algorithm level, we use three main controls. AES-256-GCM protects sensitive data and also detects tampering. ECDSA P-384 signs receipts and other evidence. SHA-256 links the audit records together so a missing or changed record can be detected.</a:t>
            </a:r>
          </a:p>
          <a:p>
            <a:r>
              <a:rPr lang="en-LK" sz="1200" b="0" i="0" kern="1200" dirty="0">
                <a:effectLst/>
              </a:rPr>
              <a:t>We will now leave the slides and show these controls through a real transfer and the automated negative tests.</a:t>
            </a:r>
          </a:p>
          <a:p>
            <a:r>
              <a:rPr lang="en-LK" sz="1200" b="0" i="0" kern="1200" dirty="0">
                <a:effectLst/>
              </a:rPr>
              <a:t>//SWITCH//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This slide shows the main connections we are about to test. The browser reaches the public edge through TLS 1.3. Inside the system, the services use mutual TLS, the database verifies its encrypted connection, mail upgrades with STARTTLS, and file transfers use SFTP with keys rather than passwords.</a:t>
            </a:r>
          </a:p>
          <a:p>
            <a:r>
              <a:rPr lang="en-LK" sz="1200" b="0" i="0" kern="1200" dirty="0">
                <a:effectLst/>
              </a:rPr>
              <a:t>The important part is that we also test the connections that should fail, including an older TLS version, anonymous access to the key service, and password-based SFTP.</a:t>
            </a:r>
          </a:p>
          <a:p>
            <a:r>
              <a:rPr lang="en-LK" sz="1200" b="0" i="0" kern="1200" dirty="0">
                <a:effectLst/>
              </a:rPr>
              <a:t>//SWITCH//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For the next part, we run the same test attacks against two targets. One is our protected application. The other is a deliberately vulnerable application made only for this comparison.</a:t>
            </a:r>
          </a:p>
          <a:p>
            <a:r>
              <a:rPr lang="en-LK" sz="1200" b="0" i="0" kern="1200" dirty="0">
                <a:effectLst/>
              </a:rPr>
              <a:t>On the secure side, every attack should be blocked. On the vulnerable side, the same input should succeed. We will now switch back to the laptop and run that comparison.</a:t>
            </a:r>
          </a:p>
          <a:p>
            <a:r>
              <a:rPr lang="en-LK" sz="1200" b="0" i="0" kern="1200" dirty="0">
                <a:effectLst/>
              </a:rPr>
              <a:t>//SWITCH//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At the system level, our controls are grouped into three jobs. First, prevent unnecessary access through role-based permissions and network separation. Second, detect suspicious activity through the WAF, application events, and IDS or SIEM rules. Third, recover using encrypted backups that are copied to restricted stores.</a:t>
            </a:r>
          </a:p>
          <a:p>
            <a:r>
              <a:rPr lang="en-LK" sz="1200" b="0" i="0" kern="1200" dirty="0">
                <a:effectLst/>
              </a:rPr>
              <a:t>We will now move to the administrator dashboard to show the access restrictions and the evidence produced by the monitoring controls.</a:t>
            </a:r>
          </a:p>
          <a:p>
            <a:r>
              <a:rPr lang="en-LK" sz="1200" b="0" i="0" kern="1200" dirty="0">
                <a:effectLst/>
              </a:rPr>
              <a:t>//SWITCH//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This slide shows the recovery chain before we run it. The database backup is encrypted with a fresh data key. That key is wrapped by the key-management service, and a signed manifest records the backup digest and metadata. The encrypted copy is then sent to primary and DR stores.</a:t>
            </a:r>
          </a:p>
          <a:p>
            <a:r>
              <a:rPr lang="en-LK" sz="1200" b="0" i="0" kern="1200" dirty="0">
                <a:effectLst/>
              </a:rPr>
              <a:t>The last step is the most important one: we restore the backup into a temporary database and run a query against it. We will switch to the terminal and verify that whole chain now.</a:t>
            </a:r>
          </a:p>
          <a:p>
            <a:r>
              <a:rPr lang="en-LK" sz="1200" b="0" i="0" kern="1200" dirty="0">
                <a:effectLst/>
              </a:rPr>
              <a:t>//SWITCH//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LK" sz="1200" b="0" i="0" kern="1200" dirty="0">
                <a:effectLst/>
              </a:rPr>
              <a:t>To finish, we want to be clear about the scope. This is a coursework prototype, not a production bank. Docker networks demonstrate segmentation, but they are not a physical next-generation firewall. Our key service models the boundary of an HSM, but it is not hardware-backed. The monitoring works from security events rather than mirrored network traffic, and both backup locations are still on one host.</a:t>
            </a:r>
          </a:p>
          <a:p>
            <a:r>
              <a:rPr lang="en-LK" sz="1200" b="0" i="0" kern="1200" dirty="0">
                <a:effectLst/>
              </a:rPr>
              <a:t>Even with those limitations, the main CW1 ideas are working. At each layer, we can show the control, show what happens when someone tries to break it, and show the evidence the system produces. That is what we wanted this prototype to prove.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02AD05D-C199-43A9-B9FA-2FB0480246FB}"/>
              </a:ext>
            </a:extLst>
          </p:cNvPr>
          <p:cNvSpPr>
            <a:spLocks noGrp="1"/>
          </p:cNvSpPr>
          <p:nvPr/>
        </p:nvSpPr>
        <p:spPr>
          <a:xfrm>
            <a:off x="0" y="0"/>
            <a:ext cx="12192000" cy="6858000"/>
          </a:xfrm>
          <a:prstGeom prst="rect">
            <a:avLst/>
          </a:prstGeom>
          <a:solidFill>
            <a:srgbClr val="F6F6F2"/>
          </a:solidFill>
          <a:ln w="0">
            <a:noFill/>
            <a:prstDash val="solid"/>
          </a:ln>
        </p:spPr>
        <p:txBody>
          <a:bodyPr/>
          <a:lstStyle/>
          <a:p>
            <a:endParaRPr lang="en-LK"/>
          </a:p>
        </p:txBody>
      </p:sp>
      <p:pic>
        <p:nvPicPr>
          <p:cNvPr id="13" name="Picture 12"/>
          <p:cNvPicPr>
            <a:picLocks noChangeAspect="1"/>
          </p:cNvPicPr>
          <p:nvPr/>
        </p:nvPicPr>
        <p:blipFill>
          <a:blip r:embed="rId3"/>
          <a:srcRect l="24205" r="24205"/>
          <a:stretch>
            <a:fillRect/>
          </a:stretch>
        </p:blipFill>
        <p:spPr>
          <a:xfrm>
            <a:off x="5905500" y="0"/>
            <a:ext cx="6286500" cy="6858000"/>
          </a:xfrm>
          <a:prstGeom prst="roundRect">
            <a:avLst>
              <a:gd name="adj" fmla="val 1212"/>
            </a:avLst>
          </a:prstGeom>
        </p:spPr>
      </p:pic>
      <p:sp>
        <p:nvSpPr>
          <p:cNvPr id="3" name="Rectangle 2">
            <a:extLst>
              <a:ext uri="{FF2B5EF4-FFF2-40B4-BE49-F238E27FC236}">
                <a16:creationId xmlns:a16="http://schemas.microsoft.com/office/drawing/2014/main" id="{9E7C34BE-8E6F-453B-BFEC-B953961E77AE}"/>
              </a:ext>
            </a:extLst>
          </p:cNvPr>
          <p:cNvSpPr>
            <a:spLocks noGrp="1"/>
          </p:cNvSpPr>
          <p:nvPr/>
        </p:nvSpPr>
        <p:spPr>
          <a:xfrm>
            <a:off x="0" y="0"/>
            <a:ext cx="6610350" cy="6858000"/>
          </a:xfrm>
          <a:prstGeom prst="rect">
            <a:avLst/>
          </a:prstGeom>
          <a:solidFill>
            <a:srgbClr val="F6F6F2"/>
          </a:solidFill>
          <a:ln w="0">
            <a:noFill/>
            <a:prstDash val="solid"/>
          </a:ln>
        </p:spPr>
        <p:txBody>
          <a:bodyPr/>
          <a:lstStyle/>
          <a:p>
            <a:endParaRPr lang="en-LK"/>
          </a:p>
        </p:txBody>
      </p:sp>
      <p:sp>
        <p:nvSpPr>
          <p:cNvPr id="4" name="Rectangle 3">
            <a:extLst>
              <a:ext uri="{FF2B5EF4-FFF2-40B4-BE49-F238E27FC236}">
                <a16:creationId xmlns:a16="http://schemas.microsoft.com/office/drawing/2014/main" id="{DE5ACDEB-95BF-4633-8B23-26062E018C3E}"/>
              </a:ext>
            </a:extLst>
          </p:cNvPr>
          <p:cNvSpPr>
            <a:spLocks noGrp="1"/>
          </p:cNvSpPr>
          <p:nvPr/>
        </p:nvSpPr>
        <p:spPr>
          <a:xfrm>
            <a:off x="5905500" y="0"/>
            <a:ext cx="762000" cy="6858000"/>
          </a:xfrm>
          <a:prstGeom prst="rect">
            <a:avLst/>
          </a:prstGeom>
          <a:ln w="0">
            <a:noFill/>
            <a:prstDash val="solid"/>
          </a:ln>
        </p:spPr>
        <p:txBody>
          <a:bodyPr/>
          <a:lstStyle/>
          <a:p>
            <a:endParaRPr lang="en-LK"/>
          </a:p>
        </p:txBody>
      </p:sp>
      <p:sp>
        <p:nvSpPr>
          <p:cNvPr id="5" name="Rectangle 4">
            <a:extLst>
              <a:ext uri="{FF2B5EF4-FFF2-40B4-BE49-F238E27FC236}">
                <a16:creationId xmlns:a16="http://schemas.microsoft.com/office/drawing/2014/main" id="{98C71F1E-1FD8-4B85-A956-E2A1E4D9E44C}"/>
              </a:ext>
            </a:extLst>
          </p:cNvPr>
          <p:cNvSpPr>
            <a:spLocks noGrp="1"/>
          </p:cNvSpPr>
          <p:nvPr/>
        </p:nvSpPr>
        <p:spPr>
          <a:xfrm>
            <a:off x="647700" y="628650"/>
            <a:ext cx="447675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SECURE BANK / SECURITY DEMONSTRATION</a:t>
            </a:r>
          </a:p>
        </p:txBody>
      </p:sp>
      <p:sp>
        <p:nvSpPr>
          <p:cNvPr id="6" name="Rectangle 5">
            <a:extLst>
              <a:ext uri="{FF2B5EF4-FFF2-40B4-BE49-F238E27FC236}">
                <a16:creationId xmlns:a16="http://schemas.microsoft.com/office/drawing/2014/main" id="{2DAB03E4-4462-4EEC-BD12-E0F4DE63B76B}"/>
              </a:ext>
            </a:extLst>
          </p:cNvPr>
          <p:cNvSpPr>
            <a:spLocks noGrp="1"/>
          </p:cNvSpPr>
          <p:nvPr/>
        </p:nvSpPr>
        <p:spPr>
          <a:xfrm>
            <a:off x="628650" y="1752600"/>
            <a:ext cx="5238750" cy="800100"/>
          </a:xfrm>
          <a:prstGeom prst="rect">
            <a:avLst/>
          </a:prstGeom>
          <a:noFill/>
          <a:ln w="0">
            <a:noFill/>
            <a:prstDash val="solid"/>
          </a:ln>
        </p:spPr>
        <p:txBody>
          <a:bodyPr lIns="0" tIns="0" rIns="0" bIns="0" anchor="t"/>
          <a:lstStyle/>
          <a:p>
            <a:pPr algn="l">
              <a:defRPr sz="5250" b="1">
                <a:solidFill>
                  <a:srgbClr val="18191B"/>
                </a:solidFill>
                <a:latin typeface="Aptos Display"/>
                <a:ea typeface="Aptos Display"/>
                <a:cs typeface="Aptos Display"/>
              </a:defRPr>
            </a:pPr>
            <a:r>
              <a:rPr sz="5250" b="1">
                <a:solidFill>
                  <a:srgbClr val="18191B"/>
                </a:solidFill>
                <a:latin typeface="Aptos Display"/>
                <a:ea typeface="Aptos Display"/>
                <a:cs typeface="Aptos Display"/>
              </a:rPr>
              <a:t>Secure Bank</a:t>
            </a:r>
          </a:p>
        </p:txBody>
      </p:sp>
      <p:sp>
        <p:nvSpPr>
          <p:cNvPr id="7" name="Rectangle 6">
            <a:extLst>
              <a:ext uri="{FF2B5EF4-FFF2-40B4-BE49-F238E27FC236}">
                <a16:creationId xmlns:a16="http://schemas.microsoft.com/office/drawing/2014/main" id="{02197910-DE24-4F5E-A7D0-B695D38CF631}"/>
              </a:ext>
            </a:extLst>
          </p:cNvPr>
          <p:cNvSpPr>
            <a:spLocks noGrp="1"/>
          </p:cNvSpPr>
          <p:nvPr/>
        </p:nvSpPr>
        <p:spPr>
          <a:xfrm>
            <a:off x="666750" y="2809875"/>
            <a:ext cx="4953000" cy="1047750"/>
          </a:xfrm>
          <a:prstGeom prst="rect">
            <a:avLst/>
          </a:prstGeom>
          <a:noFill/>
          <a:ln w="0">
            <a:noFill/>
            <a:prstDash val="solid"/>
          </a:ln>
        </p:spPr>
        <p:txBody>
          <a:bodyPr lIns="0" tIns="0" rIns="0" bIns="0" anchor="t"/>
          <a:lstStyle/>
          <a:p>
            <a:pPr algn="l">
              <a:defRPr sz="2175" b="0">
                <a:solidFill>
                  <a:srgbClr val="18191B"/>
                </a:solidFill>
                <a:latin typeface="Aptos Display"/>
                <a:ea typeface="Aptos Display"/>
                <a:cs typeface="Aptos Display"/>
              </a:defRPr>
            </a:pPr>
            <a:r>
              <a:rPr sz="2175" b="0">
                <a:solidFill>
                  <a:srgbClr val="18191B"/>
                </a:solidFill>
                <a:latin typeface="Aptos Display"/>
                <a:ea typeface="Aptos Display"/>
                <a:cs typeface="Aptos Display"/>
              </a:rPr>
              <a:t>Turning the CW1 security architecture</a:t>
            </a:r>
          </a:p>
          <a:p>
            <a:pPr algn="l">
              <a:defRPr sz="2175" b="0">
                <a:solidFill>
                  <a:srgbClr val="18191B"/>
                </a:solidFill>
                <a:latin typeface="Aptos Display"/>
                <a:ea typeface="Aptos Display"/>
                <a:cs typeface="Aptos Display"/>
              </a:defRPr>
            </a:pPr>
            <a:r>
              <a:rPr sz="2175" b="0">
                <a:solidFill>
                  <a:srgbClr val="18191B"/>
                </a:solidFill>
                <a:latin typeface="Aptos Display"/>
                <a:ea typeface="Aptos Display"/>
                <a:cs typeface="Aptos Display"/>
              </a:rPr>
              <a:t>into working evidence.</a:t>
            </a:r>
          </a:p>
        </p:txBody>
      </p:sp>
      <p:sp>
        <p:nvSpPr>
          <p:cNvPr id="8" name="Rectangle 7">
            <a:extLst>
              <a:ext uri="{FF2B5EF4-FFF2-40B4-BE49-F238E27FC236}">
                <a16:creationId xmlns:a16="http://schemas.microsoft.com/office/drawing/2014/main" id="{3A23D26F-D2B0-4A74-AFF6-A45E500592E1}"/>
              </a:ext>
            </a:extLst>
          </p:cNvPr>
          <p:cNvSpPr>
            <a:spLocks noGrp="1"/>
          </p:cNvSpPr>
          <p:nvPr/>
        </p:nvSpPr>
        <p:spPr>
          <a:xfrm>
            <a:off x="666750" y="4495800"/>
            <a:ext cx="3905250" cy="9525"/>
          </a:xfrm>
          <a:prstGeom prst="rect">
            <a:avLst/>
          </a:prstGeom>
          <a:solidFill>
            <a:srgbClr val="18191B"/>
          </a:solidFill>
          <a:ln w="0">
            <a:noFill/>
            <a:prstDash val="solid"/>
          </a:ln>
        </p:spPr>
        <p:txBody>
          <a:bodyPr/>
          <a:lstStyle/>
          <a:p>
            <a:endParaRPr lang="en-LK"/>
          </a:p>
        </p:txBody>
      </p:sp>
      <p:sp>
        <p:nvSpPr>
          <p:cNvPr id="9" name="Rectangle 8">
            <a:extLst>
              <a:ext uri="{FF2B5EF4-FFF2-40B4-BE49-F238E27FC236}">
                <a16:creationId xmlns:a16="http://schemas.microsoft.com/office/drawing/2014/main" id="{C67DC10D-35D9-445C-B10B-B3F8D1920A0F}"/>
              </a:ext>
            </a:extLst>
          </p:cNvPr>
          <p:cNvSpPr>
            <a:spLocks noGrp="1"/>
          </p:cNvSpPr>
          <p:nvPr/>
        </p:nvSpPr>
        <p:spPr>
          <a:xfrm>
            <a:off x="666750" y="4686300"/>
            <a:ext cx="4476750" cy="247650"/>
          </a:xfrm>
          <a:prstGeom prst="rect">
            <a:avLst/>
          </a:prstGeom>
          <a:noFill/>
          <a:ln w="0">
            <a:noFill/>
            <a:prstDash val="solid"/>
          </a:ln>
        </p:spPr>
        <p:txBody>
          <a:bodyPr lIns="0" tIns="0" rIns="0" bIns="0" anchor="t"/>
          <a:lstStyle/>
          <a:p>
            <a:pPr algn="l">
              <a:defRPr sz="1050" b="0">
                <a:solidFill>
                  <a:srgbClr val="6E7278"/>
                </a:solidFill>
                <a:latin typeface="Cascadia Mono"/>
                <a:ea typeface="Cascadia Mono"/>
                <a:cs typeface="Cascadia Mono"/>
              </a:defRPr>
            </a:pPr>
            <a:r>
              <a:rPr sz="1050" b="0">
                <a:solidFill>
                  <a:srgbClr val="6E7278"/>
                </a:solidFill>
                <a:latin typeface="Cascadia Mono"/>
                <a:ea typeface="Cascadia Mono"/>
                <a:cs typeface="Cascadia Mono"/>
              </a:rPr>
              <a:t>ALGORITHM  /  PROTOCOL  /  SYSTEM</a:t>
            </a:r>
          </a:p>
        </p:txBody>
      </p:sp>
      <p:sp>
        <p:nvSpPr>
          <p:cNvPr id="10" name="Oval 9">
            <a:extLst>
              <a:ext uri="{FF2B5EF4-FFF2-40B4-BE49-F238E27FC236}">
                <a16:creationId xmlns:a16="http://schemas.microsoft.com/office/drawing/2014/main" id="{302BA142-382D-4EEE-8138-D35DBB8E3E6D}"/>
              </a:ext>
            </a:extLst>
          </p:cNvPr>
          <p:cNvSpPr>
            <a:spLocks noGrp="1"/>
          </p:cNvSpPr>
          <p:nvPr/>
        </p:nvSpPr>
        <p:spPr>
          <a:xfrm>
            <a:off x="666750" y="5511276"/>
            <a:ext cx="114300" cy="114300"/>
          </a:xfrm>
          <a:prstGeom prst="ellipse">
            <a:avLst/>
          </a:prstGeom>
          <a:solidFill>
            <a:srgbClr val="2F5BFF"/>
          </a:solidFill>
          <a:ln w="0">
            <a:noFill/>
            <a:prstDash val="solid"/>
          </a:ln>
        </p:spPr>
        <p:txBody>
          <a:bodyPr/>
          <a:lstStyle/>
          <a:p>
            <a:endParaRPr lang="en-LK"/>
          </a:p>
        </p:txBody>
      </p:sp>
      <p:sp>
        <p:nvSpPr>
          <p:cNvPr id="11" name="Rectangle 10">
            <a:extLst>
              <a:ext uri="{FF2B5EF4-FFF2-40B4-BE49-F238E27FC236}">
                <a16:creationId xmlns:a16="http://schemas.microsoft.com/office/drawing/2014/main" id="{ABEC8785-AE1B-433A-AB5A-855AE1FE0463}"/>
              </a:ext>
            </a:extLst>
          </p:cNvPr>
          <p:cNvSpPr>
            <a:spLocks noGrp="1"/>
          </p:cNvSpPr>
          <p:nvPr/>
        </p:nvSpPr>
        <p:spPr>
          <a:xfrm>
            <a:off x="933450" y="5476875"/>
            <a:ext cx="4000500" cy="266700"/>
          </a:xfrm>
          <a:prstGeom prst="rect">
            <a:avLst/>
          </a:prstGeom>
          <a:noFill/>
          <a:ln w="0">
            <a:noFill/>
            <a:prstDash val="solid"/>
          </a:ln>
        </p:spPr>
        <p:txBody>
          <a:bodyPr lIns="0" tIns="0" rIns="0" bIns="0" anchor="t"/>
          <a:lstStyle/>
          <a:p>
            <a:pPr algn="l">
              <a:defRPr sz="1200" b="0">
                <a:solidFill>
                  <a:srgbClr val="6E7278"/>
                </a:solidFill>
                <a:latin typeface="Aptos"/>
                <a:ea typeface="Aptos"/>
                <a:cs typeface="Aptos"/>
              </a:defRPr>
            </a:pPr>
            <a:r>
              <a:rPr sz="1200" b="0">
                <a:solidFill>
                  <a:srgbClr val="6E7278"/>
                </a:solidFill>
                <a:latin typeface="Aptos"/>
                <a:ea typeface="Aptos"/>
                <a:cs typeface="Aptos"/>
              </a:rPr>
              <a:t>Coursework prototype · synthetic data only</a:t>
            </a:r>
          </a:p>
        </p:txBody>
      </p:sp>
    </p:spTree>
    <p:extLst>
      <p:ext uri="{BB962C8B-B14F-4D97-AF65-F5344CB8AC3E}">
        <p14:creationId xmlns:p14="http://schemas.microsoft.com/office/powerpoint/2010/main" val="1451012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9CB1296-5FBE-4B53-9DF5-FD3EC08514D9}"/>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CONTEXT</a:t>
            </a:r>
          </a:p>
        </p:txBody>
      </p:sp>
      <p:sp>
        <p:nvSpPr>
          <p:cNvPr id="2" name="Rectangle 1">
            <a:extLst>
              <a:ext uri="{FF2B5EF4-FFF2-40B4-BE49-F238E27FC236}">
                <a16:creationId xmlns:a16="http://schemas.microsoft.com/office/drawing/2014/main" id="{993DB724-1D87-493B-B224-BBE456C137DB}"/>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02</a:t>
            </a:r>
          </a:p>
        </p:txBody>
      </p:sp>
      <p:sp>
        <p:nvSpPr>
          <p:cNvPr id="3" name="Rectangle 2">
            <a:extLst>
              <a:ext uri="{FF2B5EF4-FFF2-40B4-BE49-F238E27FC236}">
                <a16:creationId xmlns:a16="http://schemas.microsoft.com/office/drawing/2014/main" id="{6D0D4C16-CC6B-49B7-8F91-E2BC14EE1302}"/>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B1398C6E-6244-48B1-81A1-27BE1FFEB522}"/>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One transaction. Three security layers.</a:t>
            </a:r>
          </a:p>
        </p:txBody>
      </p:sp>
      <p:sp>
        <p:nvSpPr>
          <p:cNvPr id="5" name="Rectangle 4">
            <a:extLst>
              <a:ext uri="{FF2B5EF4-FFF2-40B4-BE49-F238E27FC236}">
                <a16:creationId xmlns:a16="http://schemas.microsoft.com/office/drawing/2014/main" id="{AF3011EA-035F-4904-9E6C-C764C5423C07}"/>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The architecture becomes useful when each layer leaves evidence we can inspect.</a:t>
            </a:r>
          </a:p>
        </p:txBody>
      </p:sp>
      <p:sp>
        <p:nvSpPr>
          <p:cNvPr id="6" name="Rectangle 5">
            <a:extLst>
              <a:ext uri="{FF2B5EF4-FFF2-40B4-BE49-F238E27FC236}">
                <a16:creationId xmlns:a16="http://schemas.microsoft.com/office/drawing/2014/main" id="{61A88802-BCF5-4529-99C3-BCBEB1B1A6E9}"/>
              </a:ext>
            </a:extLst>
          </p:cNvPr>
          <p:cNvSpPr>
            <a:spLocks noGrp="1"/>
          </p:cNvSpPr>
          <p:nvPr/>
        </p:nvSpPr>
        <p:spPr>
          <a:xfrm>
            <a:off x="666750" y="2190750"/>
            <a:ext cx="2286000" cy="2095500"/>
          </a:xfrm>
          <a:prstGeom prst="rect">
            <a:avLst/>
          </a:prstGeom>
          <a:noFill/>
          <a:ln w="0">
            <a:noFill/>
            <a:prstDash val="solid"/>
          </a:ln>
        </p:spPr>
        <p:txBody>
          <a:bodyPr lIns="0" tIns="0" rIns="0" bIns="0" anchor="t"/>
          <a:lstStyle/>
          <a:p>
            <a:pPr algn="l">
              <a:defRPr sz="14250" b="1">
                <a:solidFill>
                  <a:srgbClr val="2F5BFF"/>
                </a:solidFill>
                <a:latin typeface="Aptos Display"/>
                <a:ea typeface="Aptos Display"/>
                <a:cs typeface="Aptos Display"/>
              </a:defRPr>
            </a:pPr>
            <a:r>
              <a:rPr sz="14250" b="1">
                <a:solidFill>
                  <a:srgbClr val="2F5BFF"/>
                </a:solidFill>
                <a:latin typeface="Aptos Display"/>
                <a:ea typeface="Aptos Display"/>
                <a:cs typeface="Aptos Display"/>
              </a:rPr>
              <a:t>3</a:t>
            </a:r>
          </a:p>
        </p:txBody>
      </p:sp>
      <p:sp>
        <p:nvSpPr>
          <p:cNvPr id="7" name="Rectangle 6">
            <a:extLst>
              <a:ext uri="{FF2B5EF4-FFF2-40B4-BE49-F238E27FC236}">
                <a16:creationId xmlns:a16="http://schemas.microsoft.com/office/drawing/2014/main" id="{4F5C5483-5BD0-437F-9B79-77D89D014C16}"/>
              </a:ext>
            </a:extLst>
          </p:cNvPr>
          <p:cNvSpPr>
            <a:spLocks noGrp="1"/>
          </p:cNvSpPr>
          <p:nvPr/>
        </p:nvSpPr>
        <p:spPr>
          <a:xfrm>
            <a:off x="781050" y="4229100"/>
            <a:ext cx="2476500" cy="400050"/>
          </a:xfrm>
          <a:prstGeom prst="rect">
            <a:avLst/>
          </a:prstGeom>
          <a:noFill/>
          <a:ln w="0">
            <a:noFill/>
            <a:prstDash val="solid"/>
          </a:ln>
        </p:spPr>
        <p:txBody>
          <a:bodyPr lIns="0" tIns="0" rIns="0" bIns="0" anchor="t"/>
          <a:lstStyle/>
          <a:p>
            <a:pPr algn="l">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layers, one proof path</a:t>
            </a:r>
          </a:p>
        </p:txBody>
      </p:sp>
      <p:sp>
        <p:nvSpPr>
          <p:cNvPr id="8" name="Rectangle 7">
            <a:extLst>
              <a:ext uri="{FF2B5EF4-FFF2-40B4-BE49-F238E27FC236}">
                <a16:creationId xmlns:a16="http://schemas.microsoft.com/office/drawing/2014/main" id="{4C6EA54B-69F2-4BAF-967B-AE671550C7FC}"/>
              </a:ext>
            </a:extLst>
          </p:cNvPr>
          <p:cNvSpPr>
            <a:spLocks noGrp="1"/>
          </p:cNvSpPr>
          <p:nvPr/>
        </p:nvSpPr>
        <p:spPr>
          <a:xfrm>
            <a:off x="3714750" y="2247900"/>
            <a:ext cx="9525" cy="0"/>
          </a:xfrm>
          <a:prstGeom prst="rect">
            <a:avLst/>
          </a:prstGeom>
          <a:ln w="0">
            <a:noFill/>
            <a:prstDash val="solid"/>
          </a:ln>
        </p:spPr>
        <p:txBody>
          <a:bodyPr/>
          <a:lstStyle/>
          <a:p>
            <a:endParaRPr lang="en-LK"/>
          </a:p>
        </p:txBody>
      </p:sp>
      <p:sp>
        <p:nvSpPr>
          <p:cNvPr id="9" name="Rectangle 8">
            <a:extLst>
              <a:ext uri="{FF2B5EF4-FFF2-40B4-BE49-F238E27FC236}">
                <a16:creationId xmlns:a16="http://schemas.microsoft.com/office/drawing/2014/main" id="{A94A824C-30E0-436F-BE02-6F654E5424D6}"/>
              </a:ext>
            </a:extLst>
          </p:cNvPr>
          <p:cNvSpPr>
            <a:spLocks noGrp="1"/>
          </p:cNvSpPr>
          <p:nvPr/>
        </p:nvSpPr>
        <p:spPr>
          <a:xfrm>
            <a:off x="4171950" y="2257425"/>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dirty="0">
                <a:solidFill>
                  <a:srgbClr val="2F5BFF"/>
                </a:solidFill>
                <a:latin typeface="Cascadia Mono"/>
                <a:ea typeface="Cascadia Mono"/>
                <a:cs typeface="Cascadia Mono"/>
              </a:rPr>
              <a:t>01</a:t>
            </a:r>
          </a:p>
        </p:txBody>
      </p:sp>
      <p:sp>
        <p:nvSpPr>
          <p:cNvPr id="10" name="Rectangle 9">
            <a:extLst>
              <a:ext uri="{FF2B5EF4-FFF2-40B4-BE49-F238E27FC236}">
                <a16:creationId xmlns:a16="http://schemas.microsoft.com/office/drawing/2014/main" id="{48463DF8-7654-4790-A9D0-FAF52774047B}"/>
              </a:ext>
            </a:extLst>
          </p:cNvPr>
          <p:cNvSpPr>
            <a:spLocks noGrp="1"/>
          </p:cNvSpPr>
          <p:nvPr/>
        </p:nvSpPr>
        <p:spPr>
          <a:xfrm>
            <a:off x="4781550" y="2247900"/>
            <a:ext cx="59626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Protect the data</a:t>
            </a:r>
          </a:p>
        </p:txBody>
      </p:sp>
      <p:sp>
        <p:nvSpPr>
          <p:cNvPr id="11" name="Rectangle 10">
            <a:extLst>
              <a:ext uri="{FF2B5EF4-FFF2-40B4-BE49-F238E27FC236}">
                <a16:creationId xmlns:a16="http://schemas.microsoft.com/office/drawing/2014/main" id="{D071A436-79E6-4568-909F-13E415D86EAB}"/>
              </a:ext>
            </a:extLst>
          </p:cNvPr>
          <p:cNvSpPr>
            <a:spLocks noGrp="1"/>
          </p:cNvSpPr>
          <p:nvPr/>
        </p:nvSpPr>
        <p:spPr>
          <a:xfrm>
            <a:off x="4781550" y="2590800"/>
            <a:ext cx="59626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AES-256-GCM, ECDSA P-384 and SHA-256 create confidentiality, authenticity and tamper evidence.</a:t>
            </a:r>
          </a:p>
        </p:txBody>
      </p:sp>
      <p:sp>
        <p:nvSpPr>
          <p:cNvPr id="12" name="Rectangle 11">
            <a:extLst>
              <a:ext uri="{FF2B5EF4-FFF2-40B4-BE49-F238E27FC236}">
                <a16:creationId xmlns:a16="http://schemas.microsoft.com/office/drawing/2014/main" id="{B6909AC6-C3C9-4BC0-9F1E-65AB8B5306FB}"/>
              </a:ext>
            </a:extLst>
          </p:cNvPr>
          <p:cNvSpPr>
            <a:spLocks noGrp="1"/>
          </p:cNvSpPr>
          <p:nvPr/>
        </p:nvSpPr>
        <p:spPr>
          <a:xfrm>
            <a:off x="4781550" y="3238500"/>
            <a:ext cx="5905500" cy="9525"/>
          </a:xfrm>
          <a:prstGeom prst="rect">
            <a:avLst/>
          </a:prstGeom>
          <a:solidFill>
            <a:srgbClr val="D9DAD6"/>
          </a:solidFill>
          <a:ln w="0">
            <a:noFill/>
            <a:prstDash val="solid"/>
          </a:ln>
        </p:spPr>
        <p:txBody>
          <a:bodyPr/>
          <a:lstStyle/>
          <a:p>
            <a:endParaRPr lang="en-LK"/>
          </a:p>
        </p:txBody>
      </p:sp>
      <p:sp>
        <p:nvSpPr>
          <p:cNvPr id="13" name="Rectangle 12">
            <a:extLst>
              <a:ext uri="{FF2B5EF4-FFF2-40B4-BE49-F238E27FC236}">
                <a16:creationId xmlns:a16="http://schemas.microsoft.com/office/drawing/2014/main" id="{5993579B-56F1-4678-B04B-5BDC26DF9A92}"/>
              </a:ext>
            </a:extLst>
          </p:cNvPr>
          <p:cNvSpPr>
            <a:spLocks noGrp="1"/>
          </p:cNvSpPr>
          <p:nvPr/>
        </p:nvSpPr>
        <p:spPr>
          <a:xfrm>
            <a:off x="4171950" y="3476625"/>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dirty="0">
                <a:solidFill>
                  <a:srgbClr val="2F5BFF"/>
                </a:solidFill>
                <a:latin typeface="Cascadia Mono"/>
                <a:ea typeface="Cascadia Mono"/>
                <a:cs typeface="Cascadia Mono"/>
              </a:rPr>
              <a:t>02</a:t>
            </a:r>
          </a:p>
        </p:txBody>
      </p:sp>
      <p:sp>
        <p:nvSpPr>
          <p:cNvPr id="14" name="Rectangle 13">
            <a:extLst>
              <a:ext uri="{FF2B5EF4-FFF2-40B4-BE49-F238E27FC236}">
                <a16:creationId xmlns:a16="http://schemas.microsoft.com/office/drawing/2014/main" id="{6BDA1D12-BDA0-4FEC-8831-30A24A482304}"/>
              </a:ext>
            </a:extLst>
          </p:cNvPr>
          <p:cNvSpPr>
            <a:spLocks noGrp="1"/>
          </p:cNvSpPr>
          <p:nvPr/>
        </p:nvSpPr>
        <p:spPr>
          <a:xfrm>
            <a:off x="4781550" y="3467100"/>
            <a:ext cx="59626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Protect every connection</a:t>
            </a:r>
          </a:p>
        </p:txBody>
      </p:sp>
      <p:sp>
        <p:nvSpPr>
          <p:cNvPr id="15" name="Rectangle 14">
            <a:extLst>
              <a:ext uri="{FF2B5EF4-FFF2-40B4-BE49-F238E27FC236}">
                <a16:creationId xmlns:a16="http://schemas.microsoft.com/office/drawing/2014/main" id="{11E81448-CB8C-4D48-8568-8B8576A03D76}"/>
              </a:ext>
            </a:extLst>
          </p:cNvPr>
          <p:cNvSpPr>
            <a:spLocks noGrp="1"/>
          </p:cNvSpPr>
          <p:nvPr/>
        </p:nvSpPr>
        <p:spPr>
          <a:xfrm>
            <a:off x="4781550" y="3810000"/>
            <a:ext cx="59626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TLS 1.3, OIDC with PKCE, mTLS, database TLS, STARTTLS and SFTP each have a rejection test.</a:t>
            </a:r>
          </a:p>
        </p:txBody>
      </p:sp>
      <p:sp>
        <p:nvSpPr>
          <p:cNvPr id="16" name="Rectangle 15">
            <a:extLst>
              <a:ext uri="{FF2B5EF4-FFF2-40B4-BE49-F238E27FC236}">
                <a16:creationId xmlns:a16="http://schemas.microsoft.com/office/drawing/2014/main" id="{74543F10-5C31-447F-93F8-4E42809A659F}"/>
              </a:ext>
            </a:extLst>
          </p:cNvPr>
          <p:cNvSpPr>
            <a:spLocks noGrp="1"/>
          </p:cNvSpPr>
          <p:nvPr/>
        </p:nvSpPr>
        <p:spPr>
          <a:xfrm>
            <a:off x="4781550" y="4457700"/>
            <a:ext cx="5905500" cy="9525"/>
          </a:xfrm>
          <a:prstGeom prst="rect">
            <a:avLst/>
          </a:prstGeom>
          <a:solidFill>
            <a:srgbClr val="D9DAD6"/>
          </a:solidFill>
          <a:ln w="0">
            <a:noFill/>
            <a:prstDash val="solid"/>
          </a:ln>
        </p:spPr>
        <p:txBody>
          <a:bodyPr/>
          <a:lstStyle/>
          <a:p>
            <a:endParaRPr lang="en-LK"/>
          </a:p>
        </p:txBody>
      </p:sp>
      <p:sp>
        <p:nvSpPr>
          <p:cNvPr id="17" name="Rectangle 16">
            <a:extLst>
              <a:ext uri="{FF2B5EF4-FFF2-40B4-BE49-F238E27FC236}">
                <a16:creationId xmlns:a16="http://schemas.microsoft.com/office/drawing/2014/main" id="{B382CEBC-CC1E-4450-9F06-53F5D0AB8C26}"/>
              </a:ext>
            </a:extLst>
          </p:cNvPr>
          <p:cNvSpPr>
            <a:spLocks noGrp="1"/>
          </p:cNvSpPr>
          <p:nvPr/>
        </p:nvSpPr>
        <p:spPr>
          <a:xfrm>
            <a:off x="4171950" y="4695825"/>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03</a:t>
            </a:r>
          </a:p>
        </p:txBody>
      </p:sp>
      <p:sp>
        <p:nvSpPr>
          <p:cNvPr id="18" name="Rectangle 17">
            <a:extLst>
              <a:ext uri="{FF2B5EF4-FFF2-40B4-BE49-F238E27FC236}">
                <a16:creationId xmlns:a16="http://schemas.microsoft.com/office/drawing/2014/main" id="{BAD583FB-0AB5-42D7-B88C-A06F74E944E7}"/>
              </a:ext>
            </a:extLst>
          </p:cNvPr>
          <p:cNvSpPr>
            <a:spLocks noGrp="1"/>
          </p:cNvSpPr>
          <p:nvPr/>
        </p:nvSpPr>
        <p:spPr>
          <a:xfrm>
            <a:off x="4781550" y="4686300"/>
            <a:ext cx="59626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Protect the system</a:t>
            </a:r>
          </a:p>
        </p:txBody>
      </p:sp>
      <p:sp>
        <p:nvSpPr>
          <p:cNvPr id="19" name="Rectangle 18">
            <a:extLst>
              <a:ext uri="{FF2B5EF4-FFF2-40B4-BE49-F238E27FC236}">
                <a16:creationId xmlns:a16="http://schemas.microsoft.com/office/drawing/2014/main" id="{9682556C-F13C-4036-91BF-341CD6E42517}"/>
              </a:ext>
            </a:extLst>
          </p:cNvPr>
          <p:cNvSpPr>
            <a:spLocks noGrp="1"/>
          </p:cNvSpPr>
          <p:nvPr/>
        </p:nvSpPr>
        <p:spPr>
          <a:xfrm>
            <a:off x="4781550" y="5029200"/>
            <a:ext cx="59626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WAF, segmentation, signed audit, SIEM and verified backups reduce impact and preserve evidence.</a:t>
            </a:r>
          </a:p>
        </p:txBody>
      </p:sp>
      <p:sp>
        <p:nvSpPr>
          <p:cNvPr id="20" name="Rectangle 19">
            <a:extLst>
              <a:ext uri="{FF2B5EF4-FFF2-40B4-BE49-F238E27FC236}">
                <a16:creationId xmlns:a16="http://schemas.microsoft.com/office/drawing/2014/main" id="{B32495B5-1540-4ACE-A599-1AFBCFF777E7}"/>
              </a:ext>
            </a:extLst>
          </p:cNvPr>
          <p:cNvSpPr>
            <a:spLocks noGrp="1"/>
          </p:cNvSpPr>
          <p:nvPr/>
        </p:nvSpPr>
        <p:spPr>
          <a:xfrm>
            <a:off x="666750" y="5981700"/>
            <a:ext cx="10858500" cy="381000"/>
          </a:xfrm>
          <a:prstGeom prst="rect">
            <a:avLst/>
          </a:prstGeom>
          <a:solidFill>
            <a:srgbClr val="E6EBFF"/>
          </a:solidFill>
          <a:ln w="0">
            <a:noFill/>
            <a:prstDash val="solid"/>
          </a:ln>
        </p:spPr>
        <p:txBody>
          <a:bodyPr/>
          <a:lstStyle/>
          <a:p>
            <a:endParaRPr lang="en-LK"/>
          </a:p>
        </p:txBody>
      </p:sp>
      <p:sp>
        <p:nvSpPr>
          <p:cNvPr id="21" name="Rectangle 20">
            <a:extLst>
              <a:ext uri="{FF2B5EF4-FFF2-40B4-BE49-F238E27FC236}">
                <a16:creationId xmlns:a16="http://schemas.microsoft.com/office/drawing/2014/main" id="{0E792F63-21FD-4372-B9DB-5758DF92C833}"/>
              </a:ext>
            </a:extLst>
          </p:cNvPr>
          <p:cNvSpPr>
            <a:spLocks noGrp="1"/>
          </p:cNvSpPr>
          <p:nvPr/>
        </p:nvSpPr>
        <p:spPr>
          <a:xfrm>
            <a:off x="876300" y="6067425"/>
            <a:ext cx="10401300" cy="209550"/>
          </a:xfrm>
          <a:prstGeom prst="rect">
            <a:avLst/>
          </a:prstGeom>
          <a:noFill/>
          <a:ln w="0">
            <a:noFill/>
            <a:prstDash val="solid"/>
          </a:ln>
        </p:spPr>
        <p:txBody>
          <a:bodyPr lIns="0" tIns="0" rIns="0" bIns="0" anchor="t"/>
          <a:lstStyle/>
          <a:p>
            <a:pPr algn="l">
              <a:defRPr sz="1275" b="1">
                <a:solidFill>
                  <a:srgbClr val="2447C7"/>
                </a:solidFill>
                <a:latin typeface="Aptos"/>
                <a:ea typeface="Aptos"/>
                <a:cs typeface="Aptos"/>
              </a:defRPr>
            </a:pPr>
            <a:r>
              <a:rPr sz="1275" b="1">
                <a:solidFill>
                  <a:srgbClr val="2447C7"/>
                </a:solidFill>
                <a:latin typeface="Aptos"/>
                <a:ea typeface="Aptos"/>
                <a:cs typeface="Aptos"/>
              </a:rPr>
              <a:t>The demo follows the same path: transaction → transport → detection → recovery.</a:t>
            </a:r>
          </a:p>
        </p:txBody>
      </p:sp>
    </p:spTree>
    <p:extLst>
      <p:ext uri="{BB962C8B-B14F-4D97-AF65-F5344CB8AC3E}">
        <p14:creationId xmlns:p14="http://schemas.microsoft.com/office/powerpoint/2010/main" val="27360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4A3CBD51-3F87-49B3-95EA-38F3A5065DBB}"/>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01 / ALGORITHM</a:t>
            </a:r>
          </a:p>
        </p:txBody>
      </p:sp>
      <p:sp>
        <p:nvSpPr>
          <p:cNvPr id="2" name="Rectangle 1">
            <a:extLst>
              <a:ext uri="{FF2B5EF4-FFF2-40B4-BE49-F238E27FC236}">
                <a16:creationId xmlns:a16="http://schemas.microsoft.com/office/drawing/2014/main" id="{CD000BD6-9B47-4355-B817-5EDD4D4986B6}"/>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03</a:t>
            </a:r>
          </a:p>
        </p:txBody>
      </p:sp>
      <p:sp>
        <p:nvSpPr>
          <p:cNvPr id="3" name="Rectangle 2">
            <a:extLst>
              <a:ext uri="{FF2B5EF4-FFF2-40B4-BE49-F238E27FC236}">
                <a16:creationId xmlns:a16="http://schemas.microsoft.com/office/drawing/2014/main" id="{928509D2-CCDB-495A-8B98-62E5EE723F56}"/>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F799C75C-C0B7-46E4-BF8F-77BA916D07B3}"/>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The algorithm layer protects the message and the proof.</a:t>
            </a:r>
          </a:p>
        </p:txBody>
      </p:sp>
      <p:sp>
        <p:nvSpPr>
          <p:cNvPr id="5" name="Rectangle 4">
            <a:extLst>
              <a:ext uri="{FF2B5EF4-FFF2-40B4-BE49-F238E27FC236}">
                <a16:creationId xmlns:a16="http://schemas.microsoft.com/office/drawing/2014/main" id="{DA1CCD5C-DDBC-4702-8F10-4813BC634499}"/>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A single transfer creates encrypted data, a signed receipt and a linked audit record.</a:t>
            </a:r>
          </a:p>
        </p:txBody>
      </p:sp>
      <p:pic>
        <p:nvPicPr>
          <p:cNvPr id="28" name="Picture 27"/>
          <p:cNvPicPr>
            <a:picLocks noChangeAspect="1"/>
          </p:cNvPicPr>
          <p:nvPr/>
        </p:nvPicPr>
        <p:blipFill>
          <a:blip r:embed="rId3"/>
          <a:srcRect l="4439" r="4439"/>
          <a:stretch>
            <a:fillRect/>
          </a:stretch>
        </p:blipFill>
        <p:spPr>
          <a:xfrm>
            <a:off x="6400800" y="2095500"/>
            <a:ext cx="5181600" cy="3790950"/>
          </a:xfrm>
          <a:prstGeom prst="roundRect">
            <a:avLst>
              <a:gd name="adj" fmla="val 2010"/>
            </a:avLst>
          </a:prstGeom>
        </p:spPr>
      </p:pic>
      <p:sp>
        <p:nvSpPr>
          <p:cNvPr id="7" name="Rectangle 6">
            <a:extLst>
              <a:ext uri="{FF2B5EF4-FFF2-40B4-BE49-F238E27FC236}">
                <a16:creationId xmlns:a16="http://schemas.microsoft.com/office/drawing/2014/main" id="{31036624-67AE-4627-8A11-D44703C7AFB2}"/>
              </a:ext>
            </a:extLst>
          </p:cNvPr>
          <p:cNvSpPr>
            <a:spLocks noGrp="1"/>
          </p:cNvSpPr>
          <p:nvPr/>
        </p:nvSpPr>
        <p:spPr>
          <a:xfrm>
            <a:off x="6191250" y="2343150"/>
            <a:ext cx="95250" cy="2857500"/>
          </a:xfrm>
          <a:prstGeom prst="rect">
            <a:avLst/>
          </a:prstGeom>
          <a:solidFill>
            <a:srgbClr val="2F5BFF"/>
          </a:solidFill>
          <a:ln w="0">
            <a:noFill/>
            <a:prstDash val="solid"/>
          </a:ln>
        </p:spPr>
        <p:txBody>
          <a:bodyPr/>
          <a:lstStyle/>
          <a:p>
            <a:endParaRPr lang="en-LK"/>
          </a:p>
        </p:txBody>
      </p:sp>
      <p:sp>
        <p:nvSpPr>
          <p:cNvPr id="8" name="Rectangle 7">
            <a:extLst>
              <a:ext uri="{FF2B5EF4-FFF2-40B4-BE49-F238E27FC236}">
                <a16:creationId xmlns:a16="http://schemas.microsoft.com/office/drawing/2014/main" id="{03B0EE4C-36A5-4408-89D9-DEE397554E41}"/>
              </a:ext>
            </a:extLst>
          </p:cNvPr>
          <p:cNvSpPr>
            <a:spLocks noGrp="1"/>
          </p:cNvSpPr>
          <p:nvPr/>
        </p:nvSpPr>
        <p:spPr>
          <a:xfrm>
            <a:off x="666750" y="22669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01</a:t>
            </a:r>
          </a:p>
        </p:txBody>
      </p:sp>
      <p:sp>
        <p:nvSpPr>
          <p:cNvPr id="9" name="Rectangle 8">
            <a:extLst>
              <a:ext uri="{FF2B5EF4-FFF2-40B4-BE49-F238E27FC236}">
                <a16:creationId xmlns:a16="http://schemas.microsoft.com/office/drawing/2014/main" id="{07A566F4-7E74-41AE-854F-9CC7B0BBF2C7}"/>
              </a:ext>
            </a:extLst>
          </p:cNvPr>
          <p:cNvSpPr>
            <a:spLocks noGrp="1"/>
          </p:cNvSpPr>
          <p:nvPr/>
        </p:nvSpPr>
        <p:spPr>
          <a:xfrm>
            <a:off x="1276350" y="2247900"/>
            <a:ext cx="434340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AES-256-GCM</a:t>
            </a:r>
          </a:p>
        </p:txBody>
      </p:sp>
      <p:sp>
        <p:nvSpPr>
          <p:cNvPr id="10" name="Rectangle 9">
            <a:extLst>
              <a:ext uri="{FF2B5EF4-FFF2-40B4-BE49-F238E27FC236}">
                <a16:creationId xmlns:a16="http://schemas.microsoft.com/office/drawing/2014/main" id="{C03AD6ED-71A7-4590-BE29-26C9CD4ED609}"/>
              </a:ext>
            </a:extLst>
          </p:cNvPr>
          <p:cNvSpPr>
            <a:spLocks noGrp="1"/>
          </p:cNvSpPr>
          <p:nvPr/>
        </p:nvSpPr>
        <p:spPr>
          <a:xfrm>
            <a:off x="1276350" y="2590800"/>
            <a:ext cx="434340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Encrypts customer fields, transfer references, statements and backup data with authenticated associated data.</a:t>
            </a:r>
          </a:p>
        </p:txBody>
      </p:sp>
      <p:sp>
        <p:nvSpPr>
          <p:cNvPr id="11" name="Rectangle 10">
            <a:extLst>
              <a:ext uri="{FF2B5EF4-FFF2-40B4-BE49-F238E27FC236}">
                <a16:creationId xmlns:a16="http://schemas.microsoft.com/office/drawing/2014/main" id="{DABD7831-214A-493E-B826-B1C8809C8455}"/>
              </a:ext>
            </a:extLst>
          </p:cNvPr>
          <p:cNvSpPr>
            <a:spLocks noGrp="1"/>
          </p:cNvSpPr>
          <p:nvPr/>
        </p:nvSpPr>
        <p:spPr>
          <a:xfrm>
            <a:off x="1276350" y="3276600"/>
            <a:ext cx="4286250" cy="9525"/>
          </a:xfrm>
          <a:prstGeom prst="rect">
            <a:avLst/>
          </a:prstGeom>
          <a:solidFill>
            <a:srgbClr val="D9DAD6"/>
          </a:solidFill>
          <a:ln w="0">
            <a:noFill/>
            <a:prstDash val="solid"/>
          </a:ln>
        </p:spPr>
        <p:txBody>
          <a:bodyPr/>
          <a:lstStyle/>
          <a:p>
            <a:endParaRPr lang="en-LK"/>
          </a:p>
        </p:txBody>
      </p:sp>
      <p:sp>
        <p:nvSpPr>
          <p:cNvPr id="12" name="Rectangle 11">
            <a:extLst>
              <a:ext uri="{FF2B5EF4-FFF2-40B4-BE49-F238E27FC236}">
                <a16:creationId xmlns:a16="http://schemas.microsoft.com/office/drawing/2014/main" id="{CFA684D3-81E8-472B-A03D-3A637CF4F59D}"/>
              </a:ext>
            </a:extLst>
          </p:cNvPr>
          <p:cNvSpPr>
            <a:spLocks noGrp="1"/>
          </p:cNvSpPr>
          <p:nvPr/>
        </p:nvSpPr>
        <p:spPr>
          <a:xfrm>
            <a:off x="666750" y="35242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02</a:t>
            </a:r>
          </a:p>
        </p:txBody>
      </p:sp>
      <p:sp>
        <p:nvSpPr>
          <p:cNvPr id="13" name="Rectangle 12">
            <a:extLst>
              <a:ext uri="{FF2B5EF4-FFF2-40B4-BE49-F238E27FC236}">
                <a16:creationId xmlns:a16="http://schemas.microsoft.com/office/drawing/2014/main" id="{EE7E7370-AA21-4693-9083-9E43CAEC7FC7}"/>
              </a:ext>
            </a:extLst>
          </p:cNvPr>
          <p:cNvSpPr>
            <a:spLocks noGrp="1"/>
          </p:cNvSpPr>
          <p:nvPr/>
        </p:nvSpPr>
        <p:spPr>
          <a:xfrm>
            <a:off x="1276350" y="3505200"/>
            <a:ext cx="434340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ECDSA P-384</a:t>
            </a:r>
          </a:p>
        </p:txBody>
      </p:sp>
      <p:sp>
        <p:nvSpPr>
          <p:cNvPr id="14" name="Rectangle 13">
            <a:extLst>
              <a:ext uri="{FF2B5EF4-FFF2-40B4-BE49-F238E27FC236}">
                <a16:creationId xmlns:a16="http://schemas.microsoft.com/office/drawing/2014/main" id="{0EECB029-1F35-421F-8D65-45C04C03BAD1}"/>
              </a:ext>
            </a:extLst>
          </p:cNvPr>
          <p:cNvSpPr>
            <a:spLocks noGrp="1"/>
          </p:cNvSpPr>
          <p:nvPr/>
        </p:nvSpPr>
        <p:spPr>
          <a:xfrm>
            <a:off x="1276350" y="3848100"/>
            <a:ext cx="434340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Signs receipts, audit entries and backup manifests while the private key stays inside the key service.</a:t>
            </a:r>
          </a:p>
        </p:txBody>
      </p:sp>
      <p:sp>
        <p:nvSpPr>
          <p:cNvPr id="15" name="Rectangle 14">
            <a:extLst>
              <a:ext uri="{FF2B5EF4-FFF2-40B4-BE49-F238E27FC236}">
                <a16:creationId xmlns:a16="http://schemas.microsoft.com/office/drawing/2014/main" id="{EC95A7DF-F219-4368-9616-23669F597100}"/>
              </a:ext>
            </a:extLst>
          </p:cNvPr>
          <p:cNvSpPr>
            <a:spLocks noGrp="1"/>
          </p:cNvSpPr>
          <p:nvPr/>
        </p:nvSpPr>
        <p:spPr>
          <a:xfrm>
            <a:off x="1276350" y="4533900"/>
            <a:ext cx="4286250" cy="9525"/>
          </a:xfrm>
          <a:prstGeom prst="rect">
            <a:avLst/>
          </a:prstGeom>
          <a:solidFill>
            <a:srgbClr val="D9DAD6"/>
          </a:solidFill>
          <a:ln w="0">
            <a:noFill/>
            <a:prstDash val="solid"/>
          </a:ln>
        </p:spPr>
        <p:txBody>
          <a:bodyPr/>
          <a:lstStyle/>
          <a:p>
            <a:endParaRPr lang="en-LK"/>
          </a:p>
        </p:txBody>
      </p:sp>
      <p:sp>
        <p:nvSpPr>
          <p:cNvPr id="16" name="Rectangle 15">
            <a:extLst>
              <a:ext uri="{FF2B5EF4-FFF2-40B4-BE49-F238E27FC236}">
                <a16:creationId xmlns:a16="http://schemas.microsoft.com/office/drawing/2014/main" id="{839CAC73-0899-4AD0-905B-9818CBD9CA73}"/>
              </a:ext>
            </a:extLst>
          </p:cNvPr>
          <p:cNvSpPr>
            <a:spLocks noGrp="1"/>
          </p:cNvSpPr>
          <p:nvPr/>
        </p:nvSpPr>
        <p:spPr>
          <a:xfrm>
            <a:off x="666750" y="47815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03</a:t>
            </a:r>
          </a:p>
        </p:txBody>
      </p:sp>
      <p:sp>
        <p:nvSpPr>
          <p:cNvPr id="17" name="Rectangle 16">
            <a:extLst>
              <a:ext uri="{FF2B5EF4-FFF2-40B4-BE49-F238E27FC236}">
                <a16:creationId xmlns:a16="http://schemas.microsoft.com/office/drawing/2014/main" id="{3B05EE8D-A7C9-4BCB-B082-C3BB6B32ED08}"/>
              </a:ext>
            </a:extLst>
          </p:cNvPr>
          <p:cNvSpPr>
            <a:spLocks noGrp="1"/>
          </p:cNvSpPr>
          <p:nvPr/>
        </p:nvSpPr>
        <p:spPr>
          <a:xfrm>
            <a:off x="1276350" y="4762500"/>
            <a:ext cx="434340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SHA-256</a:t>
            </a:r>
          </a:p>
        </p:txBody>
      </p:sp>
      <p:sp>
        <p:nvSpPr>
          <p:cNvPr id="18" name="Rectangle 17">
            <a:extLst>
              <a:ext uri="{FF2B5EF4-FFF2-40B4-BE49-F238E27FC236}">
                <a16:creationId xmlns:a16="http://schemas.microsoft.com/office/drawing/2014/main" id="{57F635ED-DE4F-4A9A-ACA8-50A899722698}"/>
              </a:ext>
            </a:extLst>
          </p:cNvPr>
          <p:cNvSpPr>
            <a:spLocks noGrp="1"/>
          </p:cNvSpPr>
          <p:nvPr/>
        </p:nvSpPr>
        <p:spPr>
          <a:xfrm>
            <a:off x="1276350" y="5105400"/>
            <a:ext cx="434340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Links audit entries and digests backup ciphertext so later modification is detectable.</a:t>
            </a:r>
          </a:p>
        </p:txBody>
      </p:sp>
      <p:sp>
        <p:nvSpPr>
          <p:cNvPr id="19" name="Rectangle 18">
            <a:extLst>
              <a:ext uri="{FF2B5EF4-FFF2-40B4-BE49-F238E27FC236}">
                <a16:creationId xmlns:a16="http://schemas.microsoft.com/office/drawing/2014/main" id="{3E5415E2-D780-46EC-BBB4-9A678B157AFA}"/>
              </a:ext>
            </a:extLst>
          </p:cNvPr>
          <p:cNvSpPr>
            <a:spLocks noGrp="1"/>
          </p:cNvSpPr>
          <p:nvPr/>
        </p:nvSpPr>
        <p:spPr>
          <a:xfrm>
            <a:off x="666750" y="6019800"/>
            <a:ext cx="4476750" cy="438150"/>
          </a:xfrm>
          <a:prstGeom prst="rect">
            <a:avLst/>
          </a:prstGeom>
          <a:solidFill>
            <a:srgbClr val="25272B"/>
          </a:solidFill>
          <a:ln w="0">
            <a:noFill/>
            <a:prstDash val="solid"/>
          </a:ln>
        </p:spPr>
        <p:txBody>
          <a:bodyPr/>
          <a:lstStyle/>
          <a:p>
            <a:endParaRPr lang="en-LK"/>
          </a:p>
        </p:txBody>
      </p:sp>
      <p:sp>
        <p:nvSpPr>
          <p:cNvPr id="20" name="Rectangle 19">
            <a:extLst>
              <a:ext uri="{FF2B5EF4-FFF2-40B4-BE49-F238E27FC236}">
                <a16:creationId xmlns:a16="http://schemas.microsoft.com/office/drawing/2014/main" id="{46C14B93-588F-465B-83F5-1113FD4C10D0}"/>
              </a:ext>
            </a:extLst>
          </p:cNvPr>
          <p:cNvSpPr>
            <a:spLocks noGrp="1"/>
          </p:cNvSpPr>
          <p:nvPr/>
        </p:nvSpPr>
        <p:spPr>
          <a:xfrm>
            <a:off x="666750" y="6019800"/>
            <a:ext cx="47625" cy="438150"/>
          </a:xfrm>
          <a:prstGeom prst="rect">
            <a:avLst/>
          </a:prstGeom>
          <a:solidFill>
            <a:srgbClr val="2F5BFF"/>
          </a:solidFill>
          <a:ln w="0">
            <a:noFill/>
            <a:prstDash val="solid"/>
          </a:ln>
        </p:spPr>
        <p:txBody>
          <a:bodyPr/>
          <a:lstStyle/>
          <a:p>
            <a:endParaRPr lang="en-LK"/>
          </a:p>
        </p:txBody>
      </p:sp>
      <p:sp>
        <p:nvSpPr>
          <p:cNvPr id="21" name="Rectangle 20">
            <a:extLst>
              <a:ext uri="{FF2B5EF4-FFF2-40B4-BE49-F238E27FC236}">
                <a16:creationId xmlns:a16="http://schemas.microsoft.com/office/drawing/2014/main" id="{EAF80549-0A28-4B58-87F4-FCBFF71EB0E3}"/>
              </a:ext>
            </a:extLst>
          </p:cNvPr>
          <p:cNvSpPr>
            <a:spLocks noGrp="1"/>
          </p:cNvSpPr>
          <p:nvPr/>
        </p:nvSpPr>
        <p:spPr>
          <a:xfrm>
            <a:off x="838200" y="6115050"/>
            <a:ext cx="4210050" cy="247650"/>
          </a:xfrm>
          <a:prstGeom prst="rect">
            <a:avLst/>
          </a:prstGeom>
          <a:noFill/>
          <a:ln w="0">
            <a:noFill/>
            <a:prstDash val="solid"/>
          </a:ln>
        </p:spPr>
        <p:txBody>
          <a:bodyPr lIns="0" tIns="0" rIns="0" bIns="0" anchor="ctr"/>
          <a:lstStyle/>
          <a:p>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docker compose run --rm test-runner</a:t>
            </a:r>
          </a:p>
        </p:txBody>
      </p:sp>
      <p:sp>
        <p:nvSpPr>
          <p:cNvPr id="22" name="Rectangle 21">
            <a:extLst>
              <a:ext uri="{FF2B5EF4-FFF2-40B4-BE49-F238E27FC236}">
                <a16:creationId xmlns:a16="http://schemas.microsoft.com/office/drawing/2014/main" id="{AD02A97F-3A9E-4385-80AB-210D0C021D9A}"/>
              </a:ext>
            </a:extLst>
          </p:cNvPr>
          <p:cNvSpPr>
            <a:spLocks noGrp="1"/>
          </p:cNvSpPr>
          <p:nvPr/>
        </p:nvSpPr>
        <p:spPr>
          <a:xfrm>
            <a:off x="6400800" y="6115050"/>
            <a:ext cx="5181600" cy="209550"/>
          </a:xfrm>
          <a:prstGeom prst="rect">
            <a:avLst/>
          </a:prstGeom>
          <a:noFill/>
          <a:ln w="0">
            <a:noFill/>
            <a:prstDash val="solid"/>
          </a:ln>
        </p:spPr>
        <p:txBody>
          <a:bodyPr lIns="0" tIns="0" rIns="0" bIns="0" anchor="t"/>
          <a:lstStyle/>
          <a:p>
            <a:pPr algn="r">
              <a:defRPr sz="1200" b="0">
                <a:solidFill>
                  <a:srgbClr val="6E7278"/>
                </a:solidFill>
                <a:latin typeface="Aptos"/>
                <a:ea typeface="Aptos"/>
                <a:cs typeface="Aptos"/>
              </a:defRPr>
            </a:pPr>
            <a:r>
              <a:rPr sz="1200" b="0">
                <a:solidFill>
                  <a:srgbClr val="6E7278"/>
                </a:solidFill>
                <a:latin typeface="Aptos"/>
                <a:ea typeface="Aptos"/>
                <a:cs typeface="Aptos"/>
              </a:rPr>
              <a:t>Live: customer transfer + tamper tests</a:t>
            </a:r>
          </a:p>
        </p:txBody>
      </p:sp>
    </p:spTree>
    <p:extLst>
      <p:ext uri="{BB962C8B-B14F-4D97-AF65-F5344CB8AC3E}">
        <p14:creationId xmlns:p14="http://schemas.microsoft.com/office/powerpoint/2010/main" val="166464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BE20DE8F-93A7-4DD6-9703-EE70BA2CEFFA}"/>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02 / PROTOCOL</a:t>
            </a:r>
          </a:p>
        </p:txBody>
      </p:sp>
      <p:sp>
        <p:nvSpPr>
          <p:cNvPr id="2" name="Rectangle 1">
            <a:extLst>
              <a:ext uri="{FF2B5EF4-FFF2-40B4-BE49-F238E27FC236}">
                <a16:creationId xmlns:a16="http://schemas.microsoft.com/office/drawing/2014/main" id="{8568C56B-7642-42E7-862B-E854B90F74A4}"/>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04</a:t>
            </a:r>
          </a:p>
        </p:txBody>
      </p:sp>
      <p:sp>
        <p:nvSpPr>
          <p:cNvPr id="3" name="Rectangle 2">
            <a:extLst>
              <a:ext uri="{FF2B5EF4-FFF2-40B4-BE49-F238E27FC236}">
                <a16:creationId xmlns:a16="http://schemas.microsoft.com/office/drawing/2014/main" id="{792EEC88-AE3A-4E03-8BD8-FB9FE0566507}"/>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7D268228-3C74-4961-8E7D-924BE10AD600}"/>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Protocol checks are designed to fail.</a:t>
            </a:r>
          </a:p>
        </p:txBody>
      </p:sp>
      <p:sp>
        <p:nvSpPr>
          <p:cNvPr id="5" name="Rectangle 4">
            <a:extLst>
              <a:ext uri="{FF2B5EF4-FFF2-40B4-BE49-F238E27FC236}">
                <a16:creationId xmlns:a16="http://schemas.microsoft.com/office/drawing/2014/main" id="{7EFE2E9A-6304-4EAA-9E0B-2976082AC87F}"/>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A secure connection is only convincing when weaker and anonymous alternatives are rejected.</a:t>
            </a:r>
          </a:p>
        </p:txBody>
      </p:sp>
      <p:sp>
        <p:nvSpPr>
          <p:cNvPr id="6" name="Rectangle 5">
            <a:extLst>
              <a:ext uri="{FF2B5EF4-FFF2-40B4-BE49-F238E27FC236}">
                <a16:creationId xmlns:a16="http://schemas.microsoft.com/office/drawing/2014/main" id="{E7FDA3A0-704B-44FA-92D6-24D3F87B9A4E}"/>
              </a:ext>
            </a:extLst>
          </p:cNvPr>
          <p:cNvSpPr>
            <a:spLocks noGrp="1"/>
          </p:cNvSpPr>
          <p:nvPr/>
        </p:nvSpPr>
        <p:spPr>
          <a:xfrm>
            <a:off x="990600" y="3448050"/>
            <a:ext cx="10058400" cy="19050"/>
          </a:xfrm>
          <a:prstGeom prst="rect">
            <a:avLst/>
          </a:prstGeom>
          <a:solidFill>
            <a:srgbClr val="18191B"/>
          </a:solidFill>
          <a:ln w="0">
            <a:noFill/>
            <a:prstDash val="solid"/>
          </a:ln>
        </p:spPr>
        <p:txBody>
          <a:bodyPr/>
          <a:lstStyle/>
          <a:p>
            <a:endParaRPr lang="en-LK"/>
          </a:p>
        </p:txBody>
      </p:sp>
      <p:sp>
        <p:nvSpPr>
          <p:cNvPr id="7" name="Rectangle 6">
            <a:extLst>
              <a:ext uri="{FF2B5EF4-FFF2-40B4-BE49-F238E27FC236}">
                <a16:creationId xmlns:a16="http://schemas.microsoft.com/office/drawing/2014/main" id="{2F9DC84E-2DDF-4E57-B2CF-BC3C15D7BBE5}"/>
              </a:ext>
            </a:extLst>
          </p:cNvPr>
          <p:cNvSpPr>
            <a:spLocks noGrp="1"/>
          </p:cNvSpPr>
          <p:nvPr/>
        </p:nvSpPr>
        <p:spPr>
          <a:xfrm>
            <a:off x="51435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BROWSER</a:t>
            </a:r>
          </a:p>
        </p:txBody>
      </p:sp>
      <p:sp>
        <p:nvSpPr>
          <p:cNvPr id="8" name="Rectangle 7">
            <a:extLst>
              <a:ext uri="{FF2B5EF4-FFF2-40B4-BE49-F238E27FC236}">
                <a16:creationId xmlns:a16="http://schemas.microsoft.com/office/drawing/2014/main" id="{6DC81DB5-AA59-4070-901A-5479A196882D}"/>
              </a:ext>
            </a:extLst>
          </p:cNvPr>
          <p:cNvSpPr>
            <a:spLocks noGrp="1"/>
          </p:cNvSpPr>
          <p:nvPr/>
        </p:nvSpPr>
        <p:spPr>
          <a:xfrm>
            <a:off x="45720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TLS 1.3</a:t>
            </a:r>
          </a:p>
        </p:txBody>
      </p:sp>
      <p:sp>
        <p:nvSpPr>
          <p:cNvPr id="9" name="Oval 8">
            <a:extLst>
              <a:ext uri="{FF2B5EF4-FFF2-40B4-BE49-F238E27FC236}">
                <a16:creationId xmlns:a16="http://schemas.microsoft.com/office/drawing/2014/main" id="{EB974E68-05C4-42B8-97D7-C9FF4951283C}"/>
              </a:ext>
            </a:extLst>
          </p:cNvPr>
          <p:cNvSpPr>
            <a:spLocks noGrp="1"/>
          </p:cNvSpPr>
          <p:nvPr/>
        </p:nvSpPr>
        <p:spPr>
          <a:xfrm>
            <a:off x="1104900" y="3362325"/>
            <a:ext cx="171450" cy="171450"/>
          </a:xfrm>
          <a:prstGeom prst="ellipse">
            <a:avLst/>
          </a:prstGeom>
          <a:solidFill>
            <a:srgbClr val="2F5BFF"/>
          </a:solidFill>
          <a:ln w="0">
            <a:noFill/>
            <a:prstDash val="solid"/>
          </a:ln>
        </p:spPr>
        <p:txBody>
          <a:bodyPr/>
          <a:lstStyle/>
          <a:p>
            <a:endParaRPr lang="en-LK"/>
          </a:p>
        </p:txBody>
      </p:sp>
      <p:sp>
        <p:nvSpPr>
          <p:cNvPr id="10" name="Rectangle 9">
            <a:extLst>
              <a:ext uri="{FF2B5EF4-FFF2-40B4-BE49-F238E27FC236}">
                <a16:creationId xmlns:a16="http://schemas.microsoft.com/office/drawing/2014/main" id="{D75DF0FF-2E40-4C29-8914-DB5D2A0FC646}"/>
              </a:ext>
            </a:extLst>
          </p:cNvPr>
          <p:cNvSpPr>
            <a:spLocks noGrp="1"/>
          </p:cNvSpPr>
          <p:nvPr/>
        </p:nvSpPr>
        <p:spPr>
          <a:xfrm>
            <a:off x="30480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TLS 1.2 rejected</a:t>
            </a:r>
          </a:p>
        </p:txBody>
      </p:sp>
      <p:sp>
        <p:nvSpPr>
          <p:cNvPr id="11" name="Rectangle 10">
            <a:extLst>
              <a:ext uri="{FF2B5EF4-FFF2-40B4-BE49-F238E27FC236}">
                <a16:creationId xmlns:a16="http://schemas.microsoft.com/office/drawing/2014/main" id="{31FADC1C-4C7B-4757-84A2-1E68DD3BA75B}"/>
              </a:ext>
            </a:extLst>
          </p:cNvPr>
          <p:cNvSpPr>
            <a:spLocks noGrp="1"/>
          </p:cNvSpPr>
          <p:nvPr/>
        </p:nvSpPr>
        <p:spPr>
          <a:xfrm>
            <a:off x="1962150" y="3133725"/>
            <a:ext cx="361950" cy="323850"/>
          </a:xfrm>
          <a:prstGeom prst="rect">
            <a:avLst/>
          </a:prstGeom>
          <a:noFill/>
          <a:ln w="0">
            <a:noFill/>
            <a:prstDash val="solid"/>
          </a:ln>
        </p:spPr>
        <p:txBody>
          <a:bodyPr lIns="0" tIns="0" rIns="0" bIns="0" anchor="t"/>
          <a:lstStyle/>
          <a:p>
            <a:pPr algn="ctr">
              <a:defRPr sz="1800" b="0">
                <a:solidFill>
                  <a:srgbClr val="A6A9AE"/>
                </a:solidFill>
                <a:latin typeface="Aptos"/>
                <a:ea typeface="Aptos"/>
                <a:cs typeface="Aptos"/>
              </a:defRPr>
            </a:pPr>
            <a:r>
              <a:rPr sz="1800" b="0">
                <a:solidFill>
                  <a:srgbClr val="A6A9AE"/>
                </a:solidFill>
                <a:latin typeface="Aptos"/>
                <a:ea typeface="Aptos"/>
                <a:cs typeface="Aptos"/>
              </a:rPr>
              <a:t>→</a:t>
            </a:r>
          </a:p>
        </p:txBody>
      </p:sp>
      <p:sp>
        <p:nvSpPr>
          <p:cNvPr id="12" name="Rectangle 11">
            <a:extLst>
              <a:ext uri="{FF2B5EF4-FFF2-40B4-BE49-F238E27FC236}">
                <a16:creationId xmlns:a16="http://schemas.microsoft.com/office/drawing/2014/main" id="{BFD5C4C5-E0F1-4208-AC78-1E25CD7648D3}"/>
              </a:ext>
            </a:extLst>
          </p:cNvPr>
          <p:cNvSpPr>
            <a:spLocks noGrp="1"/>
          </p:cNvSpPr>
          <p:nvPr/>
        </p:nvSpPr>
        <p:spPr>
          <a:xfrm>
            <a:off x="228600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IDENTITY</a:t>
            </a:r>
          </a:p>
        </p:txBody>
      </p:sp>
      <p:sp>
        <p:nvSpPr>
          <p:cNvPr id="13" name="Rectangle 12">
            <a:extLst>
              <a:ext uri="{FF2B5EF4-FFF2-40B4-BE49-F238E27FC236}">
                <a16:creationId xmlns:a16="http://schemas.microsoft.com/office/drawing/2014/main" id="{97646789-5AA1-4036-A619-23A6C3E07D26}"/>
              </a:ext>
            </a:extLst>
          </p:cNvPr>
          <p:cNvSpPr>
            <a:spLocks noGrp="1"/>
          </p:cNvSpPr>
          <p:nvPr/>
        </p:nvSpPr>
        <p:spPr>
          <a:xfrm>
            <a:off x="222885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OIDC + PKCE</a:t>
            </a:r>
          </a:p>
        </p:txBody>
      </p:sp>
      <p:sp>
        <p:nvSpPr>
          <p:cNvPr id="14" name="Oval 13">
            <a:extLst>
              <a:ext uri="{FF2B5EF4-FFF2-40B4-BE49-F238E27FC236}">
                <a16:creationId xmlns:a16="http://schemas.microsoft.com/office/drawing/2014/main" id="{FA74E7ED-B769-4D4D-BF48-BAE0BA8ABCD7}"/>
              </a:ext>
            </a:extLst>
          </p:cNvPr>
          <p:cNvSpPr>
            <a:spLocks noGrp="1"/>
          </p:cNvSpPr>
          <p:nvPr/>
        </p:nvSpPr>
        <p:spPr>
          <a:xfrm>
            <a:off x="2876550" y="3362325"/>
            <a:ext cx="171450" cy="171450"/>
          </a:xfrm>
          <a:prstGeom prst="ellipse">
            <a:avLst/>
          </a:prstGeom>
          <a:solidFill>
            <a:srgbClr val="2F5BFF"/>
          </a:solidFill>
          <a:ln w="0">
            <a:noFill/>
            <a:prstDash val="solid"/>
          </a:ln>
        </p:spPr>
        <p:txBody>
          <a:bodyPr/>
          <a:lstStyle/>
          <a:p>
            <a:endParaRPr lang="en-LK"/>
          </a:p>
        </p:txBody>
      </p:sp>
      <p:sp>
        <p:nvSpPr>
          <p:cNvPr id="15" name="Rectangle 14">
            <a:extLst>
              <a:ext uri="{FF2B5EF4-FFF2-40B4-BE49-F238E27FC236}">
                <a16:creationId xmlns:a16="http://schemas.microsoft.com/office/drawing/2014/main" id="{F2A9D072-757A-490B-B023-00DD9517BE08}"/>
              </a:ext>
            </a:extLst>
          </p:cNvPr>
          <p:cNvSpPr>
            <a:spLocks noGrp="1"/>
          </p:cNvSpPr>
          <p:nvPr/>
        </p:nvSpPr>
        <p:spPr>
          <a:xfrm>
            <a:off x="207645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Forged token → 401</a:t>
            </a:r>
          </a:p>
        </p:txBody>
      </p:sp>
      <p:sp>
        <p:nvSpPr>
          <p:cNvPr id="16" name="Rectangle 15">
            <a:extLst>
              <a:ext uri="{FF2B5EF4-FFF2-40B4-BE49-F238E27FC236}">
                <a16:creationId xmlns:a16="http://schemas.microsoft.com/office/drawing/2014/main" id="{4BBF73CD-EE84-4C12-998A-F95140B67FAB}"/>
              </a:ext>
            </a:extLst>
          </p:cNvPr>
          <p:cNvSpPr>
            <a:spLocks noGrp="1"/>
          </p:cNvSpPr>
          <p:nvPr/>
        </p:nvSpPr>
        <p:spPr>
          <a:xfrm>
            <a:off x="3733800" y="3133725"/>
            <a:ext cx="361950" cy="323850"/>
          </a:xfrm>
          <a:prstGeom prst="rect">
            <a:avLst/>
          </a:prstGeom>
          <a:noFill/>
          <a:ln w="0">
            <a:noFill/>
            <a:prstDash val="solid"/>
          </a:ln>
        </p:spPr>
        <p:txBody>
          <a:bodyPr lIns="0" tIns="0" rIns="0" bIns="0" anchor="t"/>
          <a:lstStyle/>
          <a:p>
            <a:pPr algn="ctr">
              <a:defRPr sz="1800" b="0">
                <a:solidFill>
                  <a:srgbClr val="A6A9AE"/>
                </a:solidFill>
                <a:latin typeface="Aptos"/>
                <a:ea typeface="Aptos"/>
                <a:cs typeface="Aptos"/>
              </a:defRPr>
            </a:pPr>
            <a:r>
              <a:rPr sz="1800" b="0">
                <a:solidFill>
                  <a:srgbClr val="A6A9AE"/>
                </a:solidFill>
                <a:latin typeface="Aptos"/>
                <a:ea typeface="Aptos"/>
                <a:cs typeface="Aptos"/>
              </a:rPr>
              <a:t>→</a:t>
            </a:r>
          </a:p>
        </p:txBody>
      </p:sp>
      <p:sp>
        <p:nvSpPr>
          <p:cNvPr id="17" name="Rectangle 16">
            <a:extLst>
              <a:ext uri="{FF2B5EF4-FFF2-40B4-BE49-F238E27FC236}">
                <a16:creationId xmlns:a16="http://schemas.microsoft.com/office/drawing/2014/main" id="{71939535-4151-4036-9D37-FB7022960CC9}"/>
              </a:ext>
            </a:extLst>
          </p:cNvPr>
          <p:cNvSpPr>
            <a:spLocks noGrp="1"/>
          </p:cNvSpPr>
          <p:nvPr/>
        </p:nvSpPr>
        <p:spPr>
          <a:xfrm>
            <a:off x="413385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SERVICES</a:t>
            </a:r>
          </a:p>
        </p:txBody>
      </p:sp>
      <p:sp>
        <p:nvSpPr>
          <p:cNvPr id="18" name="Rectangle 17">
            <a:extLst>
              <a:ext uri="{FF2B5EF4-FFF2-40B4-BE49-F238E27FC236}">
                <a16:creationId xmlns:a16="http://schemas.microsoft.com/office/drawing/2014/main" id="{118B0F75-B5E1-468A-8179-DA1703EBF5FC}"/>
              </a:ext>
            </a:extLst>
          </p:cNvPr>
          <p:cNvSpPr>
            <a:spLocks noGrp="1"/>
          </p:cNvSpPr>
          <p:nvPr/>
        </p:nvSpPr>
        <p:spPr>
          <a:xfrm>
            <a:off x="407670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mTLS</a:t>
            </a:r>
          </a:p>
        </p:txBody>
      </p:sp>
      <p:sp>
        <p:nvSpPr>
          <p:cNvPr id="19" name="Oval 18">
            <a:extLst>
              <a:ext uri="{FF2B5EF4-FFF2-40B4-BE49-F238E27FC236}">
                <a16:creationId xmlns:a16="http://schemas.microsoft.com/office/drawing/2014/main" id="{51284E93-7702-4FE3-8B9C-D27E30F07118}"/>
              </a:ext>
            </a:extLst>
          </p:cNvPr>
          <p:cNvSpPr>
            <a:spLocks noGrp="1"/>
          </p:cNvSpPr>
          <p:nvPr/>
        </p:nvSpPr>
        <p:spPr>
          <a:xfrm>
            <a:off x="4724400" y="3362325"/>
            <a:ext cx="171450" cy="171450"/>
          </a:xfrm>
          <a:prstGeom prst="ellipse">
            <a:avLst/>
          </a:prstGeom>
          <a:solidFill>
            <a:srgbClr val="2F5BFF"/>
          </a:solidFill>
          <a:ln w="0">
            <a:noFill/>
            <a:prstDash val="solid"/>
          </a:ln>
        </p:spPr>
        <p:txBody>
          <a:bodyPr/>
          <a:lstStyle/>
          <a:p>
            <a:endParaRPr lang="en-LK"/>
          </a:p>
        </p:txBody>
      </p:sp>
      <p:sp>
        <p:nvSpPr>
          <p:cNvPr id="20" name="Rectangle 19">
            <a:extLst>
              <a:ext uri="{FF2B5EF4-FFF2-40B4-BE49-F238E27FC236}">
                <a16:creationId xmlns:a16="http://schemas.microsoft.com/office/drawing/2014/main" id="{5A5C481D-BB7E-45DF-B91B-A59B87980D58}"/>
              </a:ext>
            </a:extLst>
          </p:cNvPr>
          <p:cNvSpPr>
            <a:spLocks noGrp="1"/>
          </p:cNvSpPr>
          <p:nvPr/>
        </p:nvSpPr>
        <p:spPr>
          <a:xfrm>
            <a:off x="392430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Anonymous denied</a:t>
            </a:r>
          </a:p>
        </p:txBody>
      </p:sp>
      <p:sp>
        <p:nvSpPr>
          <p:cNvPr id="21" name="Rectangle 20">
            <a:extLst>
              <a:ext uri="{FF2B5EF4-FFF2-40B4-BE49-F238E27FC236}">
                <a16:creationId xmlns:a16="http://schemas.microsoft.com/office/drawing/2014/main" id="{55FFD8AF-6B68-485A-9F4E-21A2CA25BF22}"/>
              </a:ext>
            </a:extLst>
          </p:cNvPr>
          <p:cNvSpPr>
            <a:spLocks noGrp="1"/>
          </p:cNvSpPr>
          <p:nvPr/>
        </p:nvSpPr>
        <p:spPr>
          <a:xfrm>
            <a:off x="5581650" y="3133725"/>
            <a:ext cx="361950" cy="323850"/>
          </a:xfrm>
          <a:prstGeom prst="rect">
            <a:avLst/>
          </a:prstGeom>
          <a:noFill/>
          <a:ln w="0">
            <a:noFill/>
            <a:prstDash val="solid"/>
          </a:ln>
        </p:spPr>
        <p:txBody>
          <a:bodyPr lIns="0" tIns="0" rIns="0" bIns="0" anchor="t"/>
          <a:lstStyle/>
          <a:p>
            <a:pPr algn="ctr">
              <a:defRPr sz="1800" b="0">
                <a:solidFill>
                  <a:srgbClr val="A6A9AE"/>
                </a:solidFill>
                <a:latin typeface="Aptos"/>
                <a:ea typeface="Aptos"/>
                <a:cs typeface="Aptos"/>
              </a:defRPr>
            </a:pPr>
            <a:r>
              <a:rPr sz="1800" b="0">
                <a:solidFill>
                  <a:srgbClr val="A6A9AE"/>
                </a:solidFill>
                <a:latin typeface="Aptos"/>
                <a:ea typeface="Aptos"/>
                <a:cs typeface="Aptos"/>
              </a:rPr>
              <a:t>→</a:t>
            </a:r>
          </a:p>
        </p:txBody>
      </p:sp>
      <p:sp>
        <p:nvSpPr>
          <p:cNvPr id="22" name="Rectangle 21">
            <a:extLst>
              <a:ext uri="{FF2B5EF4-FFF2-40B4-BE49-F238E27FC236}">
                <a16:creationId xmlns:a16="http://schemas.microsoft.com/office/drawing/2014/main" id="{7045DB9E-2248-452A-918C-3DC8FF8D43D8}"/>
              </a:ext>
            </a:extLst>
          </p:cNvPr>
          <p:cNvSpPr>
            <a:spLocks noGrp="1"/>
          </p:cNvSpPr>
          <p:nvPr/>
        </p:nvSpPr>
        <p:spPr>
          <a:xfrm>
            <a:off x="588645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DATABASE</a:t>
            </a:r>
          </a:p>
        </p:txBody>
      </p:sp>
      <p:sp>
        <p:nvSpPr>
          <p:cNvPr id="23" name="Rectangle 22">
            <a:extLst>
              <a:ext uri="{FF2B5EF4-FFF2-40B4-BE49-F238E27FC236}">
                <a16:creationId xmlns:a16="http://schemas.microsoft.com/office/drawing/2014/main" id="{CA24D268-F5EB-4742-B691-280695DDC42B}"/>
              </a:ext>
            </a:extLst>
          </p:cNvPr>
          <p:cNvSpPr>
            <a:spLocks noGrp="1"/>
          </p:cNvSpPr>
          <p:nvPr/>
        </p:nvSpPr>
        <p:spPr>
          <a:xfrm>
            <a:off x="582930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DB TLS</a:t>
            </a:r>
          </a:p>
        </p:txBody>
      </p:sp>
      <p:sp>
        <p:nvSpPr>
          <p:cNvPr id="24" name="Oval 23">
            <a:extLst>
              <a:ext uri="{FF2B5EF4-FFF2-40B4-BE49-F238E27FC236}">
                <a16:creationId xmlns:a16="http://schemas.microsoft.com/office/drawing/2014/main" id="{8D2FEC73-5C2E-450C-AC79-9617657DE7F9}"/>
              </a:ext>
            </a:extLst>
          </p:cNvPr>
          <p:cNvSpPr>
            <a:spLocks noGrp="1"/>
          </p:cNvSpPr>
          <p:nvPr/>
        </p:nvSpPr>
        <p:spPr>
          <a:xfrm>
            <a:off x="6477000" y="3362325"/>
            <a:ext cx="171450" cy="171450"/>
          </a:xfrm>
          <a:prstGeom prst="ellipse">
            <a:avLst/>
          </a:prstGeom>
          <a:solidFill>
            <a:srgbClr val="2F5BFF"/>
          </a:solidFill>
          <a:ln w="0">
            <a:noFill/>
            <a:prstDash val="solid"/>
          </a:ln>
        </p:spPr>
        <p:txBody>
          <a:bodyPr/>
          <a:lstStyle/>
          <a:p>
            <a:endParaRPr lang="en-LK"/>
          </a:p>
        </p:txBody>
      </p:sp>
      <p:sp>
        <p:nvSpPr>
          <p:cNvPr id="25" name="Rectangle 24">
            <a:extLst>
              <a:ext uri="{FF2B5EF4-FFF2-40B4-BE49-F238E27FC236}">
                <a16:creationId xmlns:a16="http://schemas.microsoft.com/office/drawing/2014/main" id="{16236FFB-1037-4053-A6C4-24C09B338B08}"/>
              </a:ext>
            </a:extLst>
          </p:cNvPr>
          <p:cNvSpPr>
            <a:spLocks noGrp="1"/>
          </p:cNvSpPr>
          <p:nvPr/>
        </p:nvSpPr>
        <p:spPr>
          <a:xfrm>
            <a:off x="567690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verify-full</a:t>
            </a:r>
          </a:p>
        </p:txBody>
      </p:sp>
      <p:sp>
        <p:nvSpPr>
          <p:cNvPr id="26" name="Rectangle 25">
            <a:extLst>
              <a:ext uri="{FF2B5EF4-FFF2-40B4-BE49-F238E27FC236}">
                <a16:creationId xmlns:a16="http://schemas.microsoft.com/office/drawing/2014/main" id="{3DAA7DC8-6DE4-4B6A-A729-9C74B5FCE21A}"/>
              </a:ext>
            </a:extLst>
          </p:cNvPr>
          <p:cNvSpPr>
            <a:spLocks noGrp="1"/>
          </p:cNvSpPr>
          <p:nvPr/>
        </p:nvSpPr>
        <p:spPr>
          <a:xfrm>
            <a:off x="7334250" y="3133725"/>
            <a:ext cx="361950" cy="323850"/>
          </a:xfrm>
          <a:prstGeom prst="rect">
            <a:avLst/>
          </a:prstGeom>
          <a:noFill/>
          <a:ln w="0">
            <a:noFill/>
            <a:prstDash val="solid"/>
          </a:ln>
        </p:spPr>
        <p:txBody>
          <a:bodyPr lIns="0" tIns="0" rIns="0" bIns="0" anchor="t"/>
          <a:lstStyle/>
          <a:p>
            <a:pPr algn="ctr">
              <a:defRPr sz="1800" b="0">
                <a:solidFill>
                  <a:srgbClr val="A6A9AE"/>
                </a:solidFill>
                <a:latin typeface="Aptos"/>
                <a:ea typeface="Aptos"/>
                <a:cs typeface="Aptos"/>
              </a:defRPr>
            </a:pPr>
            <a:r>
              <a:rPr sz="1800" b="0">
                <a:solidFill>
                  <a:srgbClr val="A6A9AE"/>
                </a:solidFill>
                <a:latin typeface="Aptos"/>
                <a:ea typeface="Aptos"/>
                <a:cs typeface="Aptos"/>
              </a:rPr>
              <a:t>→</a:t>
            </a:r>
          </a:p>
        </p:txBody>
      </p:sp>
      <p:sp>
        <p:nvSpPr>
          <p:cNvPr id="27" name="Rectangle 26">
            <a:extLst>
              <a:ext uri="{FF2B5EF4-FFF2-40B4-BE49-F238E27FC236}">
                <a16:creationId xmlns:a16="http://schemas.microsoft.com/office/drawing/2014/main" id="{22BD953D-28F4-4447-86EE-907E059EECE1}"/>
              </a:ext>
            </a:extLst>
          </p:cNvPr>
          <p:cNvSpPr>
            <a:spLocks noGrp="1"/>
          </p:cNvSpPr>
          <p:nvPr/>
        </p:nvSpPr>
        <p:spPr>
          <a:xfrm>
            <a:off x="763905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MAIL</a:t>
            </a:r>
          </a:p>
        </p:txBody>
      </p:sp>
      <p:sp>
        <p:nvSpPr>
          <p:cNvPr id="28" name="Rectangle 27">
            <a:extLst>
              <a:ext uri="{FF2B5EF4-FFF2-40B4-BE49-F238E27FC236}">
                <a16:creationId xmlns:a16="http://schemas.microsoft.com/office/drawing/2014/main" id="{1292E9EC-A886-45D2-96FB-41E0D240CBF0}"/>
              </a:ext>
            </a:extLst>
          </p:cNvPr>
          <p:cNvSpPr>
            <a:spLocks noGrp="1"/>
          </p:cNvSpPr>
          <p:nvPr/>
        </p:nvSpPr>
        <p:spPr>
          <a:xfrm>
            <a:off x="758190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STARTTLS</a:t>
            </a:r>
          </a:p>
        </p:txBody>
      </p:sp>
      <p:sp>
        <p:nvSpPr>
          <p:cNvPr id="29" name="Oval 28">
            <a:extLst>
              <a:ext uri="{FF2B5EF4-FFF2-40B4-BE49-F238E27FC236}">
                <a16:creationId xmlns:a16="http://schemas.microsoft.com/office/drawing/2014/main" id="{1216F88D-19AA-4A39-951E-3EF8AC8D4C12}"/>
              </a:ext>
            </a:extLst>
          </p:cNvPr>
          <p:cNvSpPr>
            <a:spLocks noGrp="1"/>
          </p:cNvSpPr>
          <p:nvPr/>
        </p:nvSpPr>
        <p:spPr>
          <a:xfrm>
            <a:off x="8229600" y="3362325"/>
            <a:ext cx="171450" cy="171450"/>
          </a:xfrm>
          <a:prstGeom prst="ellipse">
            <a:avLst/>
          </a:prstGeom>
          <a:solidFill>
            <a:srgbClr val="2F5BFF"/>
          </a:solidFill>
          <a:ln w="0">
            <a:noFill/>
            <a:prstDash val="solid"/>
          </a:ln>
        </p:spPr>
        <p:txBody>
          <a:bodyPr/>
          <a:lstStyle/>
          <a:p>
            <a:endParaRPr lang="en-LK"/>
          </a:p>
        </p:txBody>
      </p:sp>
      <p:sp>
        <p:nvSpPr>
          <p:cNvPr id="30" name="Rectangle 29">
            <a:extLst>
              <a:ext uri="{FF2B5EF4-FFF2-40B4-BE49-F238E27FC236}">
                <a16:creationId xmlns:a16="http://schemas.microsoft.com/office/drawing/2014/main" id="{2078B2D9-614B-404C-88E5-25C3CA2C10E6}"/>
              </a:ext>
            </a:extLst>
          </p:cNvPr>
          <p:cNvSpPr>
            <a:spLocks noGrp="1"/>
          </p:cNvSpPr>
          <p:nvPr/>
        </p:nvSpPr>
        <p:spPr>
          <a:xfrm>
            <a:off x="742950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Certificate checked</a:t>
            </a:r>
          </a:p>
        </p:txBody>
      </p:sp>
      <p:sp>
        <p:nvSpPr>
          <p:cNvPr id="31" name="Rectangle 30">
            <a:extLst>
              <a:ext uri="{FF2B5EF4-FFF2-40B4-BE49-F238E27FC236}">
                <a16:creationId xmlns:a16="http://schemas.microsoft.com/office/drawing/2014/main" id="{84088A9D-BDB8-4E94-8BE3-F4BADCFF5E50}"/>
              </a:ext>
            </a:extLst>
          </p:cNvPr>
          <p:cNvSpPr>
            <a:spLocks noGrp="1"/>
          </p:cNvSpPr>
          <p:nvPr/>
        </p:nvSpPr>
        <p:spPr>
          <a:xfrm>
            <a:off x="9086850" y="3133725"/>
            <a:ext cx="361950" cy="323850"/>
          </a:xfrm>
          <a:prstGeom prst="rect">
            <a:avLst/>
          </a:prstGeom>
          <a:noFill/>
          <a:ln w="0">
            <a:noFill/>
            <a:prstDash val="solid"/>
          </a:ln>
        </p:spPr>
        <p:txBody>
          <a:bodyPr lIns="0" tIns="0" rIns="0" bIns="0" anchor="t"/>
          <a:lstStyle/>
          <a:p>
            <a:pPr algn="ctr">
              <a:defRPr sz="1800" b="0">
                <a:solidFill>
                  <a:srgbClr val="A6A9AE"/>
                </a:solidFill>
                <a:latin typeface="Aptos"/>
                <a:ea typeface="Aptos"/>
                <a:cs typeface="Aptos"/>
              </a:defRPr>
            </a:pPr>
            <a:r>
              <a:rPr sz="1800" b="0">
                <a:solidFill>
                  <a:srgbClr val="A6A9AE"/>
                </a:solidFill>
                <a:latin typeface="Aptos"/>
                <a:ea typeface="Aptos"/>
                <a:cs typeface="Aptos"/>
              </a:rPr>
              <a:t>→</a:t>
            </a:r>
          </a:p>
        </p:txBody>
      </p:sp>
      <p:sp>
        <p:nvSpPr>
          <p:cNvPr id="32" name="Rectangle 31">
            <a:extLst>
              <a:ext uri="{FF2B5EF4-FFF2-40B4-BE49-F238E27FC236}">
                <a16:creationId xmlns:a16="http://schemas.microsoft.com/office/drawing/2014/main" id="{4B08DC67-4C70-4138-827B-10FF3C6CBA08}"/>
              </a:ext>
            </a:extLst>
          </p:cNvPr>
          <p:cNvSpPr>
            <a:spLocks noGrp="1"/>
          </p:cNvSpPr>
          <p:nvPr/>
        </p:nvSpPr>
        <p:spPr>
          <a:xfrm>
            <a:off x="9391650" y="2343150"/>
            <a:ext cx="1428750" cy="209550"/>
          </a:xfrm>
          <a:prstGeom prst="rect">
            <a:avLst/>
          </a:prstGeom>
          <a:noFill/>
          <a:ln w="0">
            <a:noFill/>
            <a:prstDash val="solid"/>
          </a:ln>
        </p:spPr>
        <p:txBody>
          <a:bodyPr lIns="0" tIns="0" rIns="0" bIns="0" anchor="t"/>
          <a:lstStyle/>
          <a:p>
            <a:pPr algn="ctr">
              <a:defRPr sz="900" b="1">
                <a:solidFill>
                  <a:srgbClr val="6E7278"/>
                </a:solidFill>
                <a:latin typeface="Aptos"/>
                <a:ea typeface="Aptos"/>
                <a:cs typeface="Aptos"/>
              </a:defRPr>
            </a:pPr>
            <a:r>
              <a:rPr sz="900" b="1">
                <a:solidFill>
                  <a:srgbClr val="6E7278"/>
                </a:solidFill>
                <a:latin typeface="Aptos"/>
                <a:ea typeface="Aptos"/>
                <a:cs typeface="Aptos"/>
              </a:rPr>
              <a:t>FILES</a:t>
            </a:r>
          </a:p>
        </p:txBody>
      </p:sp>
      <p:sp>
        <p:nvSpPr>
          <p:cNvPr id="33" name="Rectangle 32">
            <a:extLst>
              <a:ext uri="{FF2B5EF4-FFF2-40B4-BE49-F238E27FC236}">
                <a16:creationId xmlns:a16="http://schemas.microsoft.com/office/drawing/2014/main" id="{F15693D6-0E0F-414E-9133-539AC22F5144}"/>
              </a:ext>
            </a:extLst>
          </p:cNvPr>
          <p:cNvSpPr>
            <a:spLocks noGrp="1"/>
          </p:cNvSpPr>
          <p:nvPr/>
        </p:nvSpPr>
        <p:spPr>
          <a:xfrm>
            <a:off x="9334500" y="2686050"/>
            <a:ext cx="1543050" cy="323850"/>
          </a:xfrm>
          <a:prstGeom prst="rect">
            <a:avLst/>
          </a:prstGeom>
          <a:noFill/>
          <a:ln w="0">
            <a:noFill/>
            <a:prstDash val="solid"/>
          </a:ln>
        </p:spPr>
        <p:txBody>
          <a:bodyPr lIns="0" tIns="0" rIns="0" bIns="0" anchor="t"/>
          <a:lstStyle/>
          <a:p>
            <a:pPr algn="ctr">
              <a:defRPr sz="1650" b="1">
                <a:solidFill>
                  <a:srgbClr val="18191B"/>
                </a:solidFill>
                <a:latin typeface="Aptos Display"/>
                <a:ea typeface="Aptos Display"/>
                <a:cs typeface="Aptos Display"/>
              </a:defRPr>
            </a:pPr>
            <a:r>
              <a:rPr sz="1650" b="1">
                <a:solidFill>
                  <a:srgbClr val="18191B"/>
                </a:solidFill>
                <a:latin typeface="Aptos Display"/>
                <a:ea typeface="Aptos Display"/>
                <a:cs typeface="Aptos Display"/>
              </a:rPr>
              <a:t>SFTP</a:t>
            </a:r>
          </a:p>
        </p:txBody>
      </p:sp>
      <p:sp>
        <p:nvSpPr>
          <p:cNvPr id="34" name="Oval 33">
            <a:extLst>
              <a:ext uri="{FF2B5EF4-FFF2-40B4-BE49-F238E27FC236}">
                <a16:creationId xmlns:a16="http://schemas.microsoft.com/office/drawing/2014/main" id="{A43D0D3F-D68F-41F2-8A38-275D729E7071}"/>
              </a:ext>
            </a:extLst>
          </p:cNvPr>
          <p:cNvSpPr>
            <a:spLocks noGrp="1"/>
          </p:cNvSpPr>
          <p:nvPr/>
        </p:nvSpPr>
        <p:spPr>
          <a:xfrm>
            <a:off x="9982200" y="3362325"/>
            <a:ext cx="171450" cy="171450"/>
          </a:xfrm>
          <a:prstGeom prst="ellipse">
            <a:avLst/>
          </a:prstGeom>
          <a:solidFill>
            <a:srgbClr val="2F5BFF"/>
          </a:solidFill>
          <a:ln w="0">
            <a:noFill/>
            <a:prstDash val="solid"/>
          </a:ln>
        </p:spPr>
        <p:txBody>
          <a:bodyPr/>
          <a:lstStyle/>
          <a:p>
            <a:endParaRPr lang="en-LK"/>
          </a:p>
        </p:txBody>
      </p:sp>
      <p:sp>
        <p:nvSpPr>
          <p:cNvPr id="35" name="Rectangle 34">
            <a:extLst>
              <a:ext uri="{FF2B5EF4-FFF2-40B4-BE49-F238E27FC236}">
                <a16:creationId xmlns:a16="http://schemas.microsoft.com/office/drawing/2014/main" id="{C93B5E55-127F-4131-AA8C-6455F6F4F017}"/>
              </a:ext>
            </a:extLst>
          </p:cNvPr>
          <p:cNvSpPr>
            <a:spLocks noGrp="1"/>
          </p:cNvSpPr>
          <p:nvPr/>
        </p:nvSpPr>
        <p:spPr>
          <a:xfrm>
            <a:off x="9182100" y="3867150"/>
            <a:ext cx="1847850" cy="438150"/>
          </a:xfrm>
          <a:prstGeom prst="rect">
            <a:avLst/>
          </a:prstGeom>
          <a:noFill/>
          <a:ln w="0">
            <a:noFill/>
            <a:prstDash val="solid"/>
          </a:ln>
        </p:spPr>
        <p:txBody>
          <a:bodyPr lIns="0" tIns="0" rIns="0" bIns="0" anchor="t"/>
          <a:lstStyle/>
          <a:p>
            <a:pPr algn="ctr">
              <a:defRPr sz="1125" b="0">
                <a:solidFill>
                  <a:srgbClr val="2447C7"/>
                </a:solidFill>
                <a:latin typeface="Aptos"/>
                <a:ea typeface="Aptos"/>
                <a:cs typeface="Aptos"/>
              </a:defRPr>
            </a:pPr>
            <a:r>
              <a:rPr sz="1125" b="0">
                <a:solidFill>
                  <a:srgbClr val="2447C7"/>
                </a:solidFill>
                <a:latin typeface="Aptos"/>
                <a:ea typeface="Aptos"/>
                <a:cs typeface="Aptos"/>
              </a:rPr>
              <a:t>Password denied</a:t>
            </a:r>
          </a:p>
        </p:txBody>
      </p:sp>
      <p:sp>
        <p:nvSpPr>
          <p:cNvPr id="36" name="Rectangle 35">
            <a:extLst>
              <a:ext uri="{FF2B5EF4-FFF2-40B4-BE49-F238E27FC236}">
                <a16:creationId xmlns:a16="http://schemas.microsoft.com/office/drawing/2014/main" id="{861659FC-CFF7-4125-A6F5-2F601E21FADF}"/>
              </a:ext>
            </a:extLst>
          </p:cNvPr>
          <p:cNvSpPr>
            <a:spLocks noGrp="1"/>
          </p:cNvSpPr>
          <p:nvPr/>
        </p:nvSpPr>
        <p:spPr>
          <a:xfrm>
            <a:off x="666750" y="4857750"/>
            <a:ext cx="4286250" cy="1066800"/>
          </a:xfrm>
          <a:prstGeom prst="rect">
            <a:avLst/>
          </a:prstGeom>
          <a:solidFill>
            <a:srgbClr val="2F5BFF"/>
          </a:solidFill>
          <a:ln w="0">
            <a:noFill/>
            <a:prstDash val="solid"/>
          </a:ln>
        </p:spPr>
        <p:txBody>
          <a:bodyPr/>
          <a:lstStyle/>
          <a:p>
            <a:endParaRPr lang="en-LK"/>
          </a:p>
        </p:txBody>
      </p:sp>
      <p:sp>
        <p:nvSpPr>
          <p:cNvPr id="37" name="Rectangle 36">
            <a:extLst>
              <a:ext uri="{FF2B5EF4-FFF2-40B4-BE49-F238E27FC236}">
                <a16:creationId xmlns:a16="http://schemas.microsoft.com/office/drawing/2014/main" id="{544762DA-D418-4E54-8678-C68C295A1EA1}"/>
              </a:ext>
            </a:extLst>
          </p:cNvPr>
          <p:cNvSpPr>
            <a:spLocks noGrp="1"/>
          </p:cNvSpPr>
          <p:nvPr/>
        </p:nvSpPr>
        <p:spPr>
          <a:xfrm>
            <a:off x="895350" y="5048250"/>
            <a:ext cx="3810000" cy="361950"/>
          </a:xfrm>
          <a:prstGeom prst="rect">
            <a:avLst/>
          </a:prstGeom>
          <a:noFill/>
          <a:ln w="0">
            <a:noFill/>
            <a:prstDash val="solid"/>
          </a:ln>
        </p:spPr>
        <p:txBody>
          <a:bodyPr lIns="0" tIns="0" rIns="0" bIns="0" anchor="t"/>
          <a:lstStyle/>
          <a:p>
            <a:pPr algn="l">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Denied by design</a:t>
            </a:r>
          </a:p>
        </p:txBody>
      </p:sp>
      <p:sp>
        <p:nvSpPr>
          <p:cNvPr id="38" name="Rectangle 37">
            <a:extLst>
              <a:ext uri="{FF2B5EF4-FFF2-40B4-BE49-F238E27FC236}">
                <a16:creationId xmlns:a16="http://schemas.microsoft.com/office/drawing/2014/main" id="{929A5156-660D-473D-8513-2972F0F233FD}"/>
              </a:ext>
            </a:extLst>
          </p:cNvPr>
          <p:cNvSpPr>
            <a:spLocks noGrp="1"/>
          </p:cNvSpPr>
          <p:nvPr/>
        </p:nvSpPr>
        <p:spPr>
          <a:xfrm>
            <a:off x="895350" y="5495925"/>
            <a:ext cx="3714750" cy="228600"/>
          </a:xfrm>
          <a:prstGeom prst="rect">
            <a:avLst/>
          </a:prstGeom>
          <a:noFill/>
          <a:ln w="0">
            <a:noFill/>
            <a:prstDash val="solid"/>
          </a:ln>
        </p:spPr>
        <p:txBody>
          <a:bodyPr lIns="0" tIns="0" rIns="0" bIns="0" anchor="t"/>
          <a:lstStyle/>
          <a:p>
            <a:pPr algn="l">
              <a:defRPr sz="1275" b="0">
                <a:solidFill>
                  <a:srgbClr val="FFFFFF"/>
                </a:solidFill>
                <a:latin typeface="Aptos"/>
                <a:ea typeface="Aptos"/>
                <a:cs typeface="Aptos"/>
              </a:defRPr>
            </a:pPr>
            <a:r>
              <a:rPr sz="1275" b="0">
                <a:solidFill>
                  <a:srgbClr val="FFFFFF"/>
                </a:solidFill>
                <a:latin typeface="Aptos"/>
                <a:ea typeface="Aptos"/>
                <a:cs typeface="Aptos"/>
              </a:rPr>
              <a:t>The negative result is part of the evidence.</a:t>
            </a:r>
          </a:p>
        </p:txBody>
      </p:sp>
      <p:sp>
        <p:nvSpPr>
          <p:cNvPr id="39" name="Rectangle 38">
            <a:extLst>
              <a:ext uri="{FF2B5EF4-FFF2-40B4-BE49-F238E27FC236}">
                <a16:creationId xmlns:a16="http://schemas.microsoft.com/office/drawing/2014/main" id="{5CAB8B6F-D457-4C31-A11B-1CDCD9F37CE9}"/>
              </a:ext>
            </a:extLst>
          </p:cNvPr>
          <p:cNvSpPr>
            <a:spLocks noGrp="1"/>
          </p:cNvSpPr>
          <p:nvPr/>
        </p:nvSpPr>
        <p:spPr>
          <a:xfrm>
            <a:off x="5334000" y="5219700"/>
            <a:ext cx="6191250" cy="438150"/>
          </a:xfrm>
          <a:prstGeom prst="rect">
            <a:avLst/>
          </a:prstGeom>
          <a:solidFill>
            <a:srgbClr val="25272B"/>
          </a:solidFill>
          <a:ln w="0">
            <a:noFill/>
            <a:prstDash val="solid"/>
          </a:ln>
        </p:spPr>
        <p:txBody>
          <a:bodyPr/>
          <a:lstStyle/>
          <a:p>
            <a:endParaRPr lang="en-LK"/>
          </a:p>
        </p:txBody>
      </p:sp>
      <p:sp>
        <p:nvSpPr>
          <p:cNvPr id="40" name="Rectangle 39">
            <a:extLst>
              <a:ext uri="{FF2B5EF4-FFF2-40B4-BE49-F238E27FC236}">
                <a16:creationId xmlns:a16="http://schemas.microsoft.com/office/drawing/2014/main" id="{5886CE68-9DB3-4A65-8727-A6EC603DEB8C}"/>
              </a:ext>
            </a:extLst>
          </p:cNvPr>
          <p:cNvSpPr>
            <a:spLocks noGrp="1"/>
          </p:cNvSpPr>
          <p:nvPr/>
        </p:nvSpPr>
        <p:spPr>
          <a:xfrm>
            <a:off x="5334000" y="5219700"/>
            <a:ext cx="47625" cy="438150"/>
          </a:xfrm>
          <a:prstGeom prst="rect">
            <a:avLst/>
          </a:prstGeom>
          <a:solidFill>
            <a:srgbClr val="2F5BFF"/>
          </a:solidFill>
          <a:ln w="0">
            <a:noFill/>
            <a:prstDash val="solid"/>
          </a:ln>
        </p:spPr>
        <p:txBody>
          <a:bodyPr/>
          <a:lstStyle/>
          <a:p>
            <a:endParaRPr lang="en-LK"/>
          </a:p>
        </p:txBody>
      </p:sp>
      <p:sp>
        <p:nvSpPr>
          <p:cNvPr id="41" name="Rectangle 40">
            <a:extLst>
              <a:ext uri="{FF2B5EF4-FFF2-40B4-BE49-F238E27FC236}">
                <a16:creationId xmlns:a16="http://schemas.microsoft.com/office/drawing/2014/main" id="{BD6ACBEF-5C9F-47B9-B89C-BB2F12CE4C48}"/>
              </a:ext>
            </a:extLst>
          </p:cNvPr>
          <p:cNvSpPr>
            <a:spLocks noGrp="1"/>
          </p:cNvSpPr>
          <p:nvPr/>
        </p:nvSpPr>
        <p:spPr>
          <a:xfrm>
            <a:off x="5505450" y="5314950"/>
            <a:ext cx="5924550" cy="247650"/>
          </a:xfrm>
          <a:prstGeom prst="rect">
            <a:avLst/>
          </a:prstGeom>
          <a:noFill/>
          <a:ln w="0">
            <a:noFill/>
            <a:prstDash val="solid"/>
          </a:ln>
        </p:spPr>
        <p:txBody>
          <a:bodyPr lIns="0" tIns="0" rIns="0" bIns="0" anchor="ctr"/>
          <a:lstStyle/>
          <a:p>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docker compose run --rm toolbox protocol-check</a:t>
            </a:r>
          </a:p>
        </p:txBody>
      </p:sp>
    </p:spTree>
    <p:extLst>
      <p:ext uri="{BB962C8B-B14F-4D97-AF65-F5344CB8AC3E}">
        <p14:creationId xmlns:p14="http://schemas.microsoft.com/office/powerpoint/2010/main" val="2140705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35D7246-B245-46AC-99C6-98A98E61E999}"/>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02 / ATTACK EVIDENCE</a:t>
            </a:r>
          </a:p>
        </p:txBody>
      </p:sp>
      <p:sp>
        <p:nvSpPr>
          <p:cNvPr id="2" name="Rectangle 1">
            <a:extLst>
              <a:ext uri="{FF2B5EF4-FFF2-40B4-BE49-F238E27FC236}">
                <a16:creationId xmlns:a16="http://schemas.microsoft.com/office/drawing/2014/main" id="{3EB6BBC4-05C6-46C6-966C-BCF6CD0A11AC}"/>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05</a:t>
            </a:r>
          </a:p>
        </p:txBody>
      </p:sp>
      <p:sp>
        <p:nvSpPr>
          <p:cNvPr id="3" name="Rectangle 2">
            <a:extLst>
              <a:ext uri="{FF2B5EF4-FFF2-40B4-BE49-F238E27FC236}">
                <a16:creationId xmlns:a16="http://schemas.microsoft.com/office/drawing/2014/main" id="{A97337AA-79C0-4FC1-B6EE-522A1DEB65A0}"/>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25C7841F-EABB-48A1-A4AD-EAC33A814DFC}"/>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Same attack. Different outcome.</a:t>
            </a:r>
          </a:p>
        </p:txBody>
      </p:sp>
      <p:sp>
        <p:nvSpPr>
          <p:cNvPr id="5" name="Rectangle 4">
            <a:extLst>
              <a:ext uri="{FF2B5EF4-FFF2-40B4-BE49-F238E27FC236}">
                <a16:creationId xmlns:a16="http://schemas.microsoft.com/office/drawing/2014/main" id="{DD570EBA-9CF9-4716-AB96-55C23237E91D}"/>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The comparison passes only when the secure target blocks and the isolated lab is exploitable.</a:t>
            </a:r>
          </a:p>
        </p:txBody>
      </p:sp>
      <p:sp>
        <p:nvSpPr>
          <p:cNvPr id="6" name="Rectangle 5">
            <a:extLst>
              <a:ext uri="{FF2B5EF4-FFF2-40B4-BE49-F238E27FC236}">
                <a16:creationId xmlns:a16="http://schemas.microsoft.com/office/drawing/2014/main" id="{6FC12262-8193-4F20-87C5-91EC2F362D8D}"/>
              </a:ext>
            </a:extLst>
          </p:cNvPr>
          <p:cNvSpPr>
            <a:spLocks noGrp="1"/>
          </p:cNvSpPr>
          <p:nvPr/>
        </p:nvSpPr>
        <p:spPr>
          <a:xfrm>
            <a:off x="723900" y="2247900"/>
            <a:ext cx="2857500" cy="22860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SECURE TARGET</a:t>
            </a:r>
          </a:p>
        </p:txBody>
      </p:sp>
      <p:sp>
        <p:nvSpPr>
          <p:cNvPr id="7" name="Rectangle 6">
            <a:extLst>
              <a:ext uri="{FF2B5EF4-FFF2-40B4-BE49-F238E27FC236}">
                <a16:creationId xmlns:a16="http://schemas.microsoft.com/office/drawing/2014/main" id="{B4EEABC3-875B-4931-8F5E-1EA75D02D63F}"/>
              </a:ext>
            </a:extLst>
          </p:cNvPr>
          <p:cNvSpPr>
            <a:spLocks noGrp="1"/>
          </p:cNvSpPr>
          <p:nvPr/>
        </p:nvSpPr>
        <p:spPr>
          <a:xfrm>
            <a:off x="685800" y="2724150"/>
            <a:ext cx="3905250" cy="857250"/>
          </a:xfrm>
          <a:prstGeom prst="rect">
            <a:avLst/>
          </a:prstGeom>
          <a:noFill/>
          <a:ln w="0">
            <a:noFill/>
            <a:prstDash val="solid"/>
          </a:ln>
        </p:spPr>
        <p:txBody>
          <a:bodyPr lIns="0" tIns="0" rIns="0" bIns="0" anchor="t"/>
          <a:lstStyle/>
          <a:p>
            <a:pPr algn="l">
              <a:defRPr sz="5025" b="1">
                <a:solidFill>
                  <a:srgbClr val="2F5BFF"/>
                </a:solidFill>
                <a:latin typeface="Aptos Display"/>
                <a:ea typeface="Aptos Display"/>
                <a:cs typeface="Aptos Display"/>
              </a:defRPr>
            </a:pPr>
            <a:r>
              <a:rPr sz="5025" b="1">
                <a:solidFill>
                  <a:srgbClr val="2F5BFF"/>
                </a:solidFill>
                <a:latin typeface="Aptos Display"/>
                <a:ea typeface="Aptos Display"/>
                <a:cs typeface="Aptos Display"/>
              </a:rPr>
              <a:t>BLOCKED</a:t>
            </a:r>
          </a:p>
        </p:txBody>
      </p:sp>
      <p:sp>
        <p:nvSpPr>
          <p:cNvPr id="8" name="Rectangle 7">
            <a:extLst>
              <a:ext uri="{FF2B5EF4-FFF2-40B4-BE49-F238E27FC236}">
                <a16:creationId xmlns:a16="http://schemas.microsoft.com/office/drawing/2014/main" id="{C06D8D4D-37FD-4E9B-8CDA-0B1FDA1B14C8}"/>
              </a:ext>
            </a:extLst>
          </p:cNvPr>
          <p:cNvSpPr>
            <a:spLocks noGrp="1"/>
          </p:cNvSpPr>
          <p:nvPr/>
        </p:nvSpPr>
        <p:spPr>
          <a:xfrm>
            <a:off x="723900" y="3714750"/>
            <a:ext cx="4476750" cy="4953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WAF · validation · RBAC · signed tokens · idempotency</a:t>
            </a:r>
          </a:p>
        </p:txBody>
      </p:sp>
      <p:sp>
        <p:nvSpPr>
          <p:cNvPr id="9" name="Rectangle 8">
            <a:extLst>
              <a:ext uri="{FF2B5EF4-FFF2-40B4-BE49-F238E27FC236}">
                <a16:creationId xmlns:a16="http://schemas.microsoft.com/office/drawing/2014/main" id="{0B9B50BD-7FF2-401B-9B05-480E3A70FCEB}"/>
              </a:ext>
            </a:extLst>
          </p:cNvPr>
          <p:cNvSpPr>
            <a:spLocks noGrp="1"/>
          </p:cNvSpPr>
          <p:nvPr/>
        </p:nvSpPr>
        <p:spPr>
          <a:xfrm>
            <a:off x="5791200" y="2152650"/>
            <a:ext cx="19050" cy="2266950"/>
          </a:xfrm>
          <a:prstGeom prst="rect">
            <a:avLst/>
          </a:prstGeom>
          <a:solidFill>
            <a:srgbClr val="18191B"/>
          </a:solidFill>
          <a:ln w="0">
            <a:noFill/>
            <a:prstDash val="solid"/>
          </a:ln>
        </p:spPr>
        <p:txBody>
          <a:bodyPr/>
          <a:lstStyle/>
          <a:p>
            <a:endParaRPr lang="en-LK"/>
          </a:p>
        </p:txBody>
      </p:sp>
      <p:sp>
        <p:nvSpPr>
          <p:cNvPr id="10" name="Oval 9">
            <a:extLst>
              <a:ext uri="{FF2B5EF4-FFF2-40B4-BE49-F238E27FC236}">
                <a16:creationId xmlns:a16="http://schemas.microsoft.com/office/drawing/2014/main" id="{BE341A1C-07E8-4C44-B393-91AD3031717C}"/>
              </a:ext>
            </a:extLst>
          </p:cNvPr>
          <p:cNvSpPr>
            <a:spLocks noGrp="1"/>
          </p:cNvSpPr>
          <p:nvPr/>
        </p:nvSpPr>
        <p:spPr>
          <a:xfrm>
            <a:off x="5705475" y="3181350"/>
            <a:ext cx="190500" cy="190500"/>
          </a:xfrm>
          <a:prstGeom prst="ellipse">
            <a:avLst/>
          </a:prstGeom>
          <a:solidFill>
            <a:srgbClr val="2F5BFF"/>
          </a:solidFill>
          <a:ln w="0">
            <a:noFill/>
            <a:prstDash val="solid"/>
          </a:ln>
        </p:spPr>
        <p:txBody>
          <a:bodyPr/>
          <a:lstStyle/>
          <a:p>
            <a:endParaRPr lang="en-LK"/>
          </a:p>
        </p:txBody>
      </p:sp>
      <p:sp>
        <p:nvSpPr>
          <p:cNvPr id="11" name="Rectangle 10">
            <a:extLst>
              <a:ext uri="{FF2B5EF4-FFF2-40B4-BE49-F238E27FC236}">
                <a16:creationId xmlns:a16="http://schemas.microsoft.com/office/drawing/2014/main" id="{5EB393A6-50F7-412C-B58F-7C35644B83AD}"/>
              </a:ext>
            </a:extLst>
          </p:cNvPr>
          <p:cNvSpPr>
            <a:spLocks noGrp="1"/>
          </p:cNvSpPr>
          <p:nvPr/>
        </p:nvSpPr>
        <p:spPr>
          <a:xfrm>
            <a:off x="5286375" y="2667000"/>
            <a:ext cx="1047750" cy="476250"/>
          </a:xfrm>
          <a:prstGeom prst="rect">
            <a:avLst/>
          </a:prstGeom>
          <a:noFill/>
          <a:ln w="0">
            <a:noFill/>
            <a:prstDash val="solid"/>
          </a:ln>
        </p:spPr>
        <p:txBody>
          <a:bodyPr lIns="0" tIns="0" rIns="0" bIns="0" anchor="t"/>
          <a:lstStyle/>
          <a:p>
            <a:pPr algn="ctr">
              <a:defRPr sz="1050" b="1">
                <a:solidFill>
                  <a:srgbClr val="18191B"/>
                </a:solidFill>
                <a:latin typeface="Cascadia Mono"/>
                <a:ea typeface="Cascadia Mono"/>
                <a:cs typeface="Cascadia Mono"/>
              </a:defRPr>
            </a:pPr>
            <a:r>
              <a:rPr sz="1050" b="1">
                <a:solidFill>
                  <a:srgbClr val="18191B"/>
                </a:solidFill>
                <a:latin typeface="Cascadia Mono"/>
                <a:ea typeface="Cascadia Mono"/>
                <a:cs typeface="Cascadia Mono"/>
              </a:rPr>
              <a:t>same</a:t>
            </a:r>
          </a:p>
          <a:p>
            <a:pPr algn="ctr">
              <a:defRPr sz="1050" b="1">
                <a:solidFill>
                  <a:srgbClr val="18191B"/>
                </a:solidFill>
                <a:latin typeface="Cascadia Mono"/>
                <a:ea typeface="Cascadia Mono"/>
                <a:cs typeface="Cascadia Mono"/>
              </a:defRPr>
            </a:pPr>
            <a:r>
              <a:rPr sz="1050" b="1">
                <a:solidFill>
                  <a:srgbClr val="18191B"/>
                </a:solidFill>
                <a:latin typeface="Cascadia Mono"/>
                <a:ea typeface="Cascadia Mono"/>
                <a:cs typeface="Cascadia Mono"/>
              </a:rPr>
              <a:t>payload</a:t>
            </a:r>
          </a:p>
        </p:txBody>
      </p:sp>
      <p:sp>
        <p:nvSpPr>
          <p:cNvPr id="12" name="Rectangle 11">
            <a:extLst>
              <a:ext uri="{FF2B5EF4-FFF2-40B4-BE49-F238E27FC236}">
                <a16:creationId xmlns:a16="http://schemas.microsoft.com/office/drawing/2014/main" id="{1FB0A5C9-EB23-4B2D-AB6F-6F49E52B0768}"/>
              </a:ext>
            </a:extLst>
          </p:cNvPr>
          <p:cNvSpPr>
            <a:spLocks noGrp="1"/>
          </p:cNvSpPr>
          <p:nvPr/>
        </p:nvSpPr>
        <p:spPr>
          <a:xfrm>
            <a:off x="6877050" y="2247900"/>
            <a:ext cx="4191000" cy="228600"/>
          </a:xfrm>
          <a:prstGeom prst="rect">
            <a:avLst/>
          </a:prstGeom>
          <a:noFill/>
          <a:ln w="0">
            <a:noFill/>
            <a:prstDash val="solid"/>
          </a:ln>
        </p:spPr>
        <p:txBody>
          <a:bodyPr lIns="0" tIns="0" rIns="0" bIns="0" anchor="t"/>
          <a:lstStyle/>
          <a:p>
            <a:pPr algn="r">
              <a:defRPr sz="975" b="1">
                <a:solidFill>
                  <a:srgbClr val="6E7278"/>
                </a:solidFill>
                <a:latin typeface="Aptos"/>
                <a:ea typeface="Aptos"/>
                <a:cs typeface="Aptos"/>
              </a:defRPr>
            </a:pPr>
            <a:r>
              <a:rPr sz="975" b="1">
                <a:solidFill>
                  <a:srgbClr val="6E7278"/>
                </a:solidFill>
                <a:latin typeface="Aptos"/>
                <a:ea typeface="Aptos"/>
                <a:cs typeface="Aptos"/>
              </a:rPr>
              <a:t>ISOLATED LAB</a:t>
            </a:r>
          </a:p>
        </p:txBody>
      </p:sp>
      <p:sp>
        <p:nvSpPr>
          <p:cNvPr id="13" name="Rectangle 12">
            <a:extLst>
              <a:ext uri="{FF2B5EF4-FFF2-40B4-BE49-F238E27FC236}">
                <a16:creationId xmlns:a16="http://schemas.microsoft.com/office/drawing/2014/main" id="{23BA63B0-8DDA-45D4-80E7-B8DFCEF20167}"/>
              </a:ext>
            </a:extLst>
          </p:cNvPr>
          <p:cNvSpPr>
            <a:spLocks noGrp="1"/>
          </p:cNvSpPr>
          <p:nvPr/>
        </p:nvSpPr>
        <p:spPr>
          <a:xfrm>
            <a:off x="6667500" y="2724150"/>
            <a:ext cx="4438650" cy="857250"/>
          </a:xfrm>
          <a:prstGeom prst="rect">
            <a:avLst/>
          </a:prstGeom>
          <a:noFill/>
          <a:ln w="0">
            <a:noFill/>
            <a:prstDash val="solid"/>
          </a:ln>
        </p:spPr>
        <p:txBody>
          <a:bodyPr lIns="0" tIns="0" rIns="0" bIns="0" anchor="t"/>
          <a:lstStyle/>
          <a:p>
            <a:pPr algn="r">
              <a:defRPr sz="5025" b="1">
                <a:solidFill>
                  <a:srgbClr val="18191B"/>
                </a:solidFill>
                <a:latin typeface="Aptos Display"/>
                <a:ea typeface="Aptos Display"/>
                <a:cs typeface="Aptos Display"/>
              </a:defRPr>
            </a:pPr>
            <a:r>
              <a:rPr sz="5025" b="1">
                <a:solidFill>
                  <a:srgbClr val="18191B"/>
                </a:solidFill>
                <a:latin typeface="Aptos Display"/>
                <a:ea typeface="Aptos Display"/>
                <a:cs typeface="Aptos Display"/>
              </a:rPr>
              <a:t>EXPLOITED</a:t>
            </a:r>
          </a:p>
        </p:txBody>
      </p:sp>
      <p:sp>
        <p:nvSpPr>
          <p:cNvPr id="14" name="Rectangle 13">
            <a:extLst>
              <a:ext uri="{FF2B5EF4-FFF2-40B4-BE49-F238E27FC236}">
                <a16:creationId xmlns:a16="http://schemas.microsoft.com/office/drawing/2014/main" id="{EA42E55B-6B02-450F-8E5F-B510ED90F747}"/>
              </a:ext>
            </a:extLst>
          </p:cNvPr>
          <p:cNvSpPr>
            <a:spLocks noGrp="1"/>
          </p:cNvSpPr>
          <p:nvPr/>
        </p:nvSpPr>
        <p:spPr>
          <a:xfrm>
            <a:off x="6781800" y="3714750"/>
            <a:ext cx="4324350" cy="495300"/>
          </a:xfrm>
          <a:prstGeom prst="rect">
            <a:avLst/>
          </a:prstGeom>
          <a:noFill/>
          <a:ln w="0">
            <a:noFill/>
            <a:prstDash val="solid"/>
          </a:ln>
        </p:spPr>
        <p:txBody>
          <a:bodyPr lIns="0" tIns="0" rIns="0" bIns="0" anchor="t"/>
          <a:lstStyle/>
          <a:p>
            <a:pPr algn="r">
              <a:defRPr sz="1275" b="0">
                <a:solidFill>
                  <a:srgbClr val="6E7278"/>
                </a:solidFill>
                <a:latin typeface="Aptos"/>
                <a:ea typeface="Aptos"/>
                <a:cs typeface="Aptos"/>
              </a:defRPr>
            </a:pPr>
            <a:r>
              <a:rPr sz="1275" b="0">
                <a:solidFill>
                  <a:srgbClr val="6E7278"/>
                </a:solidFill>
                <a:latin typeface="Aptos"/>
                <a:ea typeface="Aptos"/>
                <a:cs typeface="Aptos"/>
              </a:rPr>
              <a:t>Synthetic data · separate network · opt-in profile</a:t>
            </a:r>
          </a:p>
        </p:txBody>
      </p:sp>
      <p:sp>
        <p:nvSpPr>
          <p:cNvPr id="15" name="Rectangle 14">
            <a:extLst>
              <a:ext uri="{FF2B5EF4-FFF2-40B4-BE49-F238E27FC236}">
                <a16:creationId xmlns:a16="http://schemas.microsoft.com/office/drawing/2014/main" id="{392EB8EF-5240-40C0-B326-E4F137145EC4}"/>
              </a:ext>
            </a:extLst>
          </p:cNvPr>
          <p:cNvSpPr>
            <a:spLocks noGrp="1"/>
          </p:cNvSpPr>
          <p:nvPr/>
        </p:nvSpPr>
        <p:spPr>
          <a:xfrm>
            <a:off x="71437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01</a:t>
            </a:r>
          </a:p>
        </p:txBody>
      </p:sp>
      <p:sp>
        <p:nvSpPr>
          <p:cNvPr id="16" name="Rectangle 15">
            <a:extLst>
              <a:ext uri="{FF2B5EF4-FFF2-40B4-BE49-F238E27FC236}">
                <a16:creationId xmlns:a16="http://schemas.microsoft.com/office/drawing/2014/main" id="{61815596-1698-4927-9F13-EDCAA819144F}"/>
              </a:ext>
            </a:extLst>
          </p:cNvPr>
          <p:cNvSpPr>
            <a:spLocks noGrp="1"/>
          </p:cNvSpPr>
          <p:nvPr/>
        </p:nvSpPr>
        <p:spPr>
          <a:xfrm>
            <a:off x="714375" y="5124450"/>
            <a:ext cx="1524000" cy="9525"/>
          </a:xfrm>
          <a:prstGeom prst="rect">
            <a:avLst/>
          </a:prstGeom>
          <a:solidFill>
            <a:srgbClr val="D9DAD6"/>
          </a:solidFill>
          <a:ln w="0">
            <a:noFill/>
            <a:prstDash val="solid"/>
          </a:ln>
        </p:spPr>
        <p:txBody>
          <a:bodyPr/>
          <a:lstStyle/>
          <a:p>
            <a:endParaRPr lang="en-LK"/>
          </a:p>
        </p:txBody>
      </p:sp>
      <p:sp>
        <p:nvSpPr>
          <p:cNvPr id="17" name="Rectangle 16">
            <a:extLst>
              <a:ext uri="{FF2B5EF4-FFF2-40B4-BE49-F238E27FC236}">
                <a16:creationId xmlns:a16="http://schemas.microsoft.com/office/drawing/2014/main" id="{F7ECDCA7-E40D-4E48-A36C-6441B922920C}"/>
              </a:ext>
            </a:extLst>
          </p:cNvPr>
          <p:cNvSpPr>
            <a:spLocks noGrp="1"/>
          </p:cNvSpPr>
          <p:nvPr/>
        </p:nvSpPr>
        <p:spPr>
          <a:xfrm>
            <a:off x="71437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SQL injection</a:t>
            </a:r>
          </a:p>
        </p:txBody>
      </p:sp>
      <p:sp>
        <p:nvSpPr>
          <p:cNvPr id="18" name="Rectangle 17">
            <a:extLst>
              <a:ext uri="{FF2B5EF4-FFF2-40B4-BE49-F238E27FC236}">
                <a16:creationId xmlns:a16="http://schemas.microsoft.com/office/drawing/2014/main" id="{D87DC2E9-EC40-4E68-B47C-69D0FB34C4BE}"/>
              </a:ext>
            </a:extLst>
          </p:cNvPr>
          <p:cNvSpPr>
            <a:spLocks noGrp="1"/>
          </p:cNvSpPr>
          <p:nvPr/>
        </p:nvSpPr>
        <p:spPr>
          <a:xfrm>
            <a:off x="252412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02</a:t>
            </a:r>
          </a:p>
        </p:txBody>
      </p:sp>
      <p:sp>
        <p:nvSpPr>
          <p:cNvPr id="19" name="Rectangle 18">
            <a:extLst>
              <a:ext uri="{FF2B5EF4-FFF2-40B4-BE49-F238E27FC236}">
                <a16:creationId xmlns:a16="http://schemas.microsoft.com/office/drawing/2014/main" id="{D17E2C5D-A3F9-4BC2-A0EA-656EC3A7B645}"/>
              </a:ext>
            </a:extLst>
          </p:cNvPr>
          <p:cNvSpPr>
            <a:spLocks noGrp="1"/>
          </p:cNvSpPr>
          <p:nvPr/>
        </p:nvSpPr>
        <p:spPr>
          <a:xfrm>
            <a:off x="2524125" y="5124450"/>
            <a:ext cx="1524000" cy="9525"/>
          </a:xfrm>
          <a:prstGeom prst="rect">
            <a:avLst/>
          </a:prstGeom>
          <a:solidFill>
            <a:srgbClr val="D9DAD6"/>
          </a:solidFill>
          <a:ln w="0">
            <a:noFill/>
            <a:prstDash val="solid"/>
          </a:ln>
        </p:spPr>
        <p:txBody>
          <a:bodyPr/>
          <a:lstStyle/>
          <a:p>
            <a:endParaRPr lang="en-LK"/>
          </a:p>
        </p:txBody>
      </p:sp>
      <p:sp>
        <p:nvSpPr>
          <p:cNvPr id="20" name="Rectangle 19">
            <a:extLst>
              <a:ext uri="{FF2B5EF4-FFF2-40B4-BE49-F238E27FC236}">
                <a16:creationId xmlns:a16="http://schemas.microsoft.com/office/drawing/2014/main" id="{EB6CAF5F-3929-400A-8893-8C3792498F66}"/>
              </a:ext>
            </a:extLst>
          </p:cNvPr>
          <p:cNvSpPr>
            <a:spLocks noGrp="1"/>
          </p:cNvSpPr>
          <p:nvPr/>
        </p:nvSpPr>
        <p:spPr>
          <a:xfrm>
            <a:off x="252412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Stored XSS</a:t>
            </a:r>
          </a:p>
        </p:txBody>
      </p:sp>
      <p:sp>
        <p:nvSpPr>
          <p:cNvPr id="21" name="Rectangle 20">
            <a:extLst>
              <a:ext uri="{FF2B5EF4-FFF2-40B4-BE49-F238E27FC236}">
                <a16:creationId xmlns:a16="http://schemas.microsoft.com/office/drawing/2014/main" id="{C65D500E-35A9-434F-9EAD-B273D40BBFC1}"/>
              </a:ext>
            </a:extLst>
          </p:cNvPr>
          <p:cNvSpPr>
            <a:spLocks noGrp="1"/>
          </p:cNvSpPr>
          <p:nvPr/>
        </p:nvSpPr>
        <p:spPr>
          <a:xfrm>
            <a:off x="433387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03</a:t>
            </a:r>
          </a:p>
        </p:txBody>
      </p:sp>
      <p:sp>
        <p:nvSpPr>
          <p:cNvPr id="22" name="Rectangle 21">
            <a:extLst>
              <a:ext uri="{FF2B5EF4-FFF2-40B4-BE49-F238E27FC236}">
                <a16:creationId xmlns:a16="http://schemas.microsoft.com/office/drawing/2014/main" id="{A799FB8D-E917-4D33-899C-BBD491971B14}"/>
              </a:ext>
            </a:extLst>
          </p:cNvPr>
          <p:cNvSpPr>
            <a:spLocks noGrp="1"/>
          </p:cNvSpPr>
          <p:nvPr/>
        </p:nvSpPr>
        <p:spPr>
          <a:xfrm>
            <a:off x="4333875" y="5124450"/>
            <a:ext cx="1524000" cy="9525"/>
          </a:xfrm>
          <a:prstGeom prst="rect">
            <a:avLst/>
          </a:prstGeom>
          <a:solidFill>
            <a:srgbClr val="D9DAD6"/>
          </a:solidFill>
          <a:ln w="0">
            <a:noFill/>
            <a:prstDash val="solid"/>
          </a:ln>
        </p:spPr>
        <p:txBody>
          <a:bodyPr/>
          <a:lstStyle/>
          <a:p>
            <a:endParaRPr lang="en-LK"/>
          </a:p>
        </p:txBody>
      </p:sp>
      <p:sp>
        <p:nvSpPr>
          <p:cNvPr id="23" name="Rectangle 22">
            <a:extLst>
              <a:ext uri="{FF2B5EF4-FFF2-40B4-BE49-F238E27FC236}">
                <a16:creationId xmlns:a16="http://schemas.microsoft.com/office/drawing/2014/main" id="{C351F5FD-3B6B-425F-BE9C-0739A6898C48}"/>
              </a:ext>
            </a:extLst>
          </p:cNvPr>
          <p:cNvSpPr>
            <a:spLocks noGrp="1"/>
          </p:cNvSpPr>
          <p:nvPr/>
        </p:nvSpPr>
        <p:spPr>
          <a:xfrm>
            <a:off x="433387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IDOR</a:t>
            </a:r>
          </a:p>
        </p:txBody>
      </p:sp>
      <p:sp>
        <p:nvSpPr>
          <p:cNvPr id="24" name="Rectangle 23">
            <a:extLst>
              <a:ext uri="{FF2B5EF4-FFF2-40B4-BE49-F238E27FC236}">
                <a16:creationId xmlns:a16="http://schemas.microsoft.com/office/drawing/2014/main" id="{58610504-F8F6-4859-A738-A6689D2C49F9}"/>
              </a:ext>
            </a:extLst>
          </p:cNvPr>
          <p:cNvSpPr>
            <a:spLocks noGrp="1"/>
          </p:cNvSpPr>
          <p:nvPr/>
        </p:nvSpPr>
        <p:spPr>
          <a:xfrm>
            <a:off x="614362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04</a:t>
            </a:r>
          </a:p>
        </p:txBody>
      </p:sp>
      <p:sp>
        <p:nvSpPr>
          <p:cNvPr id="25" name="Rectangle 24">
            <a:extLst>
              <a:ext uri="{FF2B5EF4-FFF2-40B4-BE49-F238E27FC236}">
                <a16:creationId xmlns:a16="http://schemas.microsoft.com/office/drawing/2014/main" id="{88E7A27D-25AC-4365-85DE-63AC3625CF0E}"/>
              </a:ext>
            </a:extLst>
          </p:cNvPr>
          <p:cNvSpPr>
            <a:spLocks noGrp="1"/>
          </p:cNvSpPr>
          <p:nvPr/>
        </p:nvSpPr>
        <p:spPr>
          <a:xfrm>
            <a:off x="6143625" y="5124450"/>
            <a:ext cx="1524000" cy="9525"/>
          </a:xfrm>
          <a:prstGeom prst="rect">
            <a:avLst/>
          </a:prstGeom>
          <a:solidFill>
            <a:srgbClr val="D9DAD6"/>
          </a:solidFill>
          <a:ln w="0">
            <a:noFill/>
            <a:prstDash val="solid"/>
          </a:ln>
        </p:spPr>
        <p:txBody>
          <a:bodyPr/>
          <a:lstStyle/>
          <a:p>
            <a:endParaRPr lang="en-LK"/>
          </a:p>
        </p:txBody>
      </p:sp>
      <p:sp>
        <p:nvSpPr>
          <p:cNvPr id="26" name="Rectangle 25">
            <a:extLst>
              <a:ext uri="{FF2B5EF4-FFF2-40B4-BE49-F238E27FC236}">
                <a16:creationId xmlns:a16="http://schemas.microsoft.com/office/drawing/2014/main" id="{FCD2EA3F-A464-40A4-AA10-7739C2C0E427}"/>
              </a:ext>
            </a:extLst>
          </p:cNvPr>
          <p:cNvSpPr>
            <a:spLocks noGrp="1"/>
          </p:cNvSpPr>
          <p:nvPr/>
        </p:nvSpPr>
        <p:spPr>
          <a:xfrm>
            <a:off x="614362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Token tampering</a:t>
            </a:r>
          </a:p>
        </p:txBody>
      </p:sp>
      <p:sp>
        <p:nvSpPr>
          <p:cNvPr id="27" name="Rectangle 26">
            <a:extLst>
              <a:ext uri="{FF2B5EF4-FFF2-40B4-BE49-F238E27FC236}">
                <a16:creationId xmlns:a16="http://schemas.microsoft.com/office/drawing/2014/main" id="{49EEEE11-CA4B-4777-851E-DF36CAE5C148}"/>
              </a:ext>
            </a:extLst>
          </p:cNvPr>
          <p:cNvSpPr>
            <a:spLocks noGrp="1"/>
          </p:cNvSpPr>
          <p:nvPr/>
        </p:nvSpPr>
        <p:spPr>
          <a:xfrm>
            <a:off x="795337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05</a:t>
            </a:r>
          </a:p>
        </p:txBody>
      </p:sp>
      <p:sp>
        <p:nvSpPr>
          <p:cNvPr id="28" name="Rectangle 27">
            <a:extLst>
              <a:ext uri="{FF2B5EF4-FFF2-40B4-BE49-F238E27FC236}">
                <a16:creationId xmlns:a16="http://schemas.microsoft.com/office/drawing/2014/main" id="{CC810595-2D43-4BC4-AA38-C8B89B0B63BA}"/>
              </a:ext>
            </a:extLst>
          </p:cNvPr>
          <p:cNvSpPr>
            <a:spLocks noGrp="1"/>
          </p:cNvSpPr>
          <p:nvPr/>
        </p:nvSpPr>
        <p:spPr>
          <a:xfrm>
            <a:off x="7953375" y="5124450"/>
            <a:ext cx="1524000" cy="9525"/>
          </a:xfrm>
          <a:prstGeom prst="rect">
            <a:avLst/>
          </a:prstGeom>
          <a:solidFill>
            <a:srgbClr val="D9DAD6"/>
          </a:solidFill>
          <a:ln w="0">
            <a:noFill/>
            <a:prstDash val="solid"/>
          </a:ln>
        </p:spPr>
        <p:txBody>
          <a:bodyPr/>
          <a:lstStyle/>
          <a:p>
            <a:endParaRPr lang="en-LK"/>
          </a:p>
        </p:txBody>
      </p:sp>
      <p:sp>
        <p:nvSpPr>
          <p:cNvPr id="29" name="Rectangle 28">
            <a:extLst>
              <a:ext uri="{FF2B5EF4-FFF2-40B4-BE49-F238E27FC236}">
                <a16:creationId xmlns:a16="http://schemas.microsoft.com/office/drawing/2014/main" id="{021F06DB-1439-48FA-AE5A-3D99D4C8CED7}"/>
              </a:ext>
            </a:extLst>
          </p:cNvPr>
          <p:cNvSpPr>
            <a:spLocks noGrp="1"/>
          </p:cNvSpPr>
          <p:nvPr/>
        </p:nvSpPr>
        <p:spPr>
          <a:xfrm>
            <a:off x="795337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CSRF / replay</a:t>
            </a:r>
          </a:p>
        </p:txBody>
      </p:sp>
      <p:sp>
        <p:nvSpPr>
          <p:cNvPr id="30" name="Rectangle 29">
            <a:extLst>
              <a:ext uri="{FF2B5EF4-FFF2-40B4-BE49-F238E27FC236}">
                <a16:creationId xmlns:a16="http://schemas.microsoft.com/office/drawing/2014/main" id="{5A42B437-581F-4D07-8263-76B19AECD686}"/>
              </a:ext>
            </a:extLst>
          </p:cNvPr>
          <p:cNvSpPr>
            <a:spLocks noGrp="1"/>
          </p:cNvSpPr>
          <p:nvPr/>
        </p:nvSpPr>
        <p:spPr>
          <a:xfrm>
            <a:off x="9763125" y="4819650"/>
            <a:ext cx="342900" cy="228600"/>
          </a:xfrm>
          <a:prstGeom prst="rect">
            <a:avLst/>
          </a:prstGeom>
          <a:noFill/>
          <a:ln w="0">
            <a:noFill/>
            <a:prstDash val="solid"/>
          </a:ln>
        </p:spPr>
        <p:txBody>
          <a:bodyPr lIns="0" tIns="0" rIns="0" bIns="0" anchor="t"/>
          <a:lstStyle/>
          <a:p>
            <a:pPr algn="l">
              <a:defRPr sz="975" b="1">
                <a:solidFill>
                  <a:srgbClr val="2F5BFF"/>
                </a:solidFill>
                <a:latin typeface="Cascadia Mono"/>
                <a:ea typeface="Cascadia Mono"/>
                <a:cs typeface="Cascadia Mono"/>
              </a:defRPr>
            </a:pPr>
            <a:r>
              <a:rPr sz="975" b="1">
                <a:solidFill>
                  <a:srgbClr val="2F5BFF"/>
                </a:solidFill>
                <a:latin typeface="Cascadia Mono"/>
                <a:ea typeface="Cascadia Mono"/>
                <a:cs typeface="Cascadia Mono"/>
              </a:rPr>
              <a:t>06</a:t>
            </a:r>
          </a:p>
        </p:txBody>
      </p:sp>
      <p:sp>
        <p:nvSpPr>
          <p:cNvPr id="31" name="Rectangle 30">
            <a:extLst>
              <a:ext uri="{FF2B5EF4-FFF2-40B4-BE49-F238E27FC236}">
                <a16:creationId xmlns:a16="http://schemas.microsoft.com/office/drawing/2014/main" id="{080533E7-EF8B-4B01-8DC8-DFE7EAE31270}"/>
              </a:ext>
            </a:extLst>
          </p:cNvPr>
          <p:cNvSpPr>
            <a:spLocks noGrp="1"/>
          </p:cNvSpPr>
          <p:nvPr/>
        </p:nvSpPr>
        <p:spPr>
          <a:xfrm>
            <a:off x="9763125" y="5124450"/>
            <a:ext cx="1524000" cy="9525"/>
          </a:xfrm>
          <a:prstGeom prst="rect">
            <a:avLst/>
          </a:prstGeom>
          <a:solidFill>
            <a:srgbClr val="D9DAD6"/>
          </a:solidFill>
          <a:ln w="0">
            <a:noFill/>
            <a:prstDash val="solid"/>
          </a:ln>
        </p:spPr>
        <p:txBody>
          <a:bodyPr/>
          <a:lstStyle/>
          <a:p>
            <a:endParaRPr lang="en-LK"/>
          </a:p>
        </p:txBody>
      </p:sp>
      <p:sp>
        <p:nvSpPr>
          <p:cNvPr id="32" name="Rectangle 31">
            <a:extLst>
              <a:ext uri="{FF2B5EF4-FFF2-40B4-BE49-F238E27FC236}">
                <a16:creationId xmlns:a16="http://schemas.microsoft.com/office/drawing/2014/main" id="{312F8864-1358-43B8-B5BA-EA901A760983}"/>
              </a:ext>
            </a:extLst>
          </p:cNvPr>
          <p:cNvSpPr>
            <a:spLocks noGrp="1"/>
          </p:cNvSpPr>
          <p:nvPr/>
        </p:nvSpPr>
        <p:spPr>
          <a:xfrm>
            <a:off x="9763125" y="5257800"/>
            <a:ext cx="1581150" cy="419100"/>
          </a:xfrm>
          <a:prstGeom prst="rect">
            <a:avLst/>
          </a:prstGeom>
          <a:noFill/>
          <a:ln w="0">
            <a:noFill/>
            <a:prstDash val="solid"/>
          </a:ln>
        </p:spPr>
        <p:txBody>
          <a:bodyPr lIns="0" tIns="0" rIns="0" bIns="0" anchor="t"/>
          <a:lstStyle/>
          <a:p>
            <a:pPr algn="l">
              <a:defRPr sz="1200" b="1">
                <a:solidFill>
                  <a:srgbClr val="18191B"/>
                </a:solidFill>
                <a:latin typeface="Aptos"/>
                <a:ea typeface="Aptos"/>
                <a:cs typeface="Aptos"/>
              </a:defRPr>
            </a:pPr>
            <a:r>
              <a:rPr sz="1200" b="1">
                <a:solidFill>
                  <a:srgbClr val="18191B"/>
                </a:solidFill>
                <a:latin typeface="Aptos"/>
                <a:ea typeface="Aptos"/>
                <a:cs typeface="Aptos"/>
              </a:rPr>
              <a:t>Brute force</a:t>
            </a:r>
          </a:p>
        </p:txBody>
      </p:sp>
      <p:sp>
        <p:nvSpPr>
          <p:cNvPr id="33" name="Rectangle 32">
            <a:extLst>
              <a:ext uri="{FF2B5EF4-FFF2-40B4-BE49-F238E27FC236}">
                <a16:creationId xmlns:a16="http://schemas.microsoft.com/office/drawing/2014/main" id="{6A8C45A2-DCCF-4EBE-A5D5-97117E9B712C}"/>
              </a:ext>
            </a:extLst>
          </p:cNvPr>
          <p:cNvSpPr>
            <a:spLocks noGrp="1"/>
          </p:cNvSpPr>
          <p:nvPr/>
        </p:nvSpPr>
        <p:spPr>
          <a:xfrm>
            <a:off x="3048000" y="6057900"/>
            <a:ext cx="6096000" cy="438150"/>
          </a:xfrm>
          <a:prstGeom prst="rect">
            <a:avLst/>
          </a:prstGeom>
          <a:solidFill>
            <a:srgbClr val="25272B"/>
          </a:solidFill>
          <a:ln w="0">
            <a:noFill/>
            <a:prstDash val="solid"/>
          </a:ln>
        </p:spPr>
        <p:txBody>
          <a:bodyPr/>
          <a:lstStyle/>
          <a:p>
            <a:endParaRPr lang="en-LK"/>
          </a:p>
        </p:txBody>
      </p:sp>
      <p:sp>
        <p:nvSpPr>
          <p:cNvPr id="34" name="Rectangle 33">
            <a:extLst>
              <a:ext uri="{FF2B5EF4-FFF2-40B4-BE49-F238E27FC236}">
                <a16:creationId xmlns:a16="http://schemas.microsoft.com/office/drawing/2014/main" id="{B3B91207-CC4F-4248-914D-87552A900CE1}"/>
              </a:ext>
            </a:extLst>
          </p:cNvPr>
          <p:cNvSpPr>
            <a:spLocks noGrp="1"/>
          </p:cNvSpPr>
          <p:nvPr/>
        </p:nvSpPr>
        <p:spPr>
          <a:xfrm>
            <a:off x="3048000" y="6057900"/>
            <a:ext cx="47625" cy="438150"/>
          </a:xfrm>
          <a:prstGeom prst="rect">
            <a:avLst/>
          </a:prstGeom>
          <a:solidFill>
            <a:srgbClr val="2F5BFF"/>
          </a:solidFill>
          <a:ln w="0">
            <a:noFill/>
            <a:prstDash val="solid"/>
          </a:ln>
        </p:spPr>
        <p:txBody>
          <a:bodyPr/>
          <a:lstStyle/>
          <a:p>
            <a:endParaRPr lang="en-LK"/>
          </a:p>
        </p:txBody>
      </p:sp>
      <p:sp>
        <p:nvSpPr>
          <p:cNvPr id="35" name="Rectangle 34">
            <a:extLst>
              <a:ext uri="{FF2B5EF4-FFF2-40B4-BE49-F238E27FC236}">
                <a16:creationId xmlns:a16="http://schemas.microsoft.com/office/drawing/2014/main" id="{260BB6EB-86D1-496D-BC8F-9F3C5F19E9E2}"/>
              </a:ext>
            </a:extLst>
          </p:cNvPr>
          <p:cNvSpPr>
            <a:spLocks noGrp="1"/>
          </p:cNvSpPr>
          <p:nvPr/>
        </p:nvSpPr>
        <p:spPr>
          <a:xfrm>
            <a:off x="3219450" y="6153150"/>
            <a:ext cx="5829300" cy="247650"/>
          </a:xfrm>
          <a:prstGeom prst="rect">
            <a:avLst/>
          </a:prstGeom>
          <a:noFill/>
          <a:ln w="0">
            <a:noFill/>
            <a:prstDash val="solid"/>
          </a:ln>
        </p:spPr>
        <p:txBody>
          <a:bodyPr lIns="0" tIns="0" rIns="0" bIns="0" anchor="ctr"/>
          <a:lstStyle/>
          <a:p>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docker compose --profile lab run --rm attack-runner</a:t>
            </a:r>
          </a:p>
        </p:txBody>
      </p:sp>
    </p:spTree>
    <p:extLst>
      <p:ext uri="{BB962C8B-B14F-4D97-AF65-F5344CB8AC3E}">
        <p14:creationId xmlns:p14="http://schemas.microsoft.com/office/powerpoint/2010/main" val="1948090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954B75E-2172-4A9B-A5C3-94C3CC624E7B}"/>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03 / SYSTEM</a:t>
            </a:r>
          </a:p>
        </p:txBody>
      </p:sp>
      <p:sp>
        <p:nvSpPr>
          <p:cNvPr id="2" name="Rectangle 1">
            <a:extLst>
              <a:ext uri="{FF2B5EF4-FFF2-40B4-BE49-F238E27FC236}">
                <a16:creationId xmlns:a16="http://schemas.microsoft.com/office/drawing/2014/main" id="{4D374B80-4B3F-4FEF-9D27-CDEFEDC08DE8}"/>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06</a:t>
            </a:r>
          </a:p>
        </p:txBody>
      </p:sp>
      <p:sp>
        <p:nvSpPr>
          <p:cNvPr id="3" name="Rectangle 2">
            <a:extLst>
              <a:ext uri="{FF2B5EF4-FFF2-40B4-BE49-F238E27FC236}">
                <a16:creationId xmlns:a16="http://schemas.microsoft.com/office/drawing/2014/main" id="{90C3ECDE-D3DD-4FA1-AE83-33B4BF6EDE2B}"/>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FABCF42F-F2CB-4A19-99A1-A5DFE0E99D47}"/>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System controls work as a sequence, not a checklist.</a:t>
            </a:r>
          </a:p>
        </p:txBody>
      </p:sp>
      <p:sp>
        <p:nvSpPr>
          <p:cNvPr id="5" name="Rectangle 4">
            <a:extLst>
              <a:ext uri="{FF2B5EF4-FFF2-40B4-BE49-F238E27FC236}">
                <a16:creationId xmlns:a16="http://schemas.microsoft.com/office/drawing/2014/main" id="{0E465D6D-9A9A-470C-BDDE-D20FE51AE34F}"/>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Contain the request, make the event visible, then preserve a recovery path.</a:t>
            </a:r>
          </a:p>
        </p:txBody>
      </p:sp>
      <p:pic>
        <p:nvPicPr>
          <p:cNvPr id="25" name="Picture 24"/>
          <p:cNvPicPr>
            <a:picLocks noChangeAspect="1"/>
          </p:cNvPicPr>
          <p:nvPr/>
        </p:nvPicPr>
        <p:blipFill>
          <a:blip r:embed="rId3"/>
          <a:srcRect l="2596" r="2596"/>
          <a:stretch>
            <a:fillRect/>
          </a:stretch>
        </p:blipFill>
        <p:spPr>
          <a:xfrm>
            <a:off x="6191250" y="2076450"/>
            <a:ext cx="5391150" cy="3790950"/>
          </a:xfrm>
          <a:prstGeom prst="roundRect">
            <a:avLst>
              <a:gd name="adj" fmla="val 2010"/>
            </a:avLst>
          </a:prstGeom>
        </p:spPr>
      </p:pic>
      <p:sp>
        <p:nvSpPr>
          <p:cNvPr id="7" name="Rectangle 6">
            <a:extLst>
              <a:ext uri="{FF2B5EF4-FFF2-40B4-BE49-F238E27FC236}">
                <a16:creationId xmlns:a16="http://schemas.microsoft.com/office/drawing/2014/main" id="{A5B67462-DCBC-4852-8098-4EC7903CD84B}"/>
              </a:ext>
            </a:extLst>
          </p:cNvPr>
          <p:cNvSpPr>
            <a:spLocks noGrp="1"/>
          </p:cNvSpPr>
          <p:nvPr/>
        </p:nvSpPr>
        <p:spPr>
          <a:xfrm>
            <a:off x="666750" y="23050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01</a:t>
            </a:r>
          </a:p>
        </p:txBody>
      </p:sp>
      <p:sp>
        <p:nvSpPr>
          <p:cNvPr id="8" name="Rectangle 7">
            <a:extLst>
              <a:ext uri="{FF2B5EF4-FFF2-40B4-BE49-F238E27FC236}">
                <a16:creationId xmlns:a16="http://schemas.microsoft.com/office/drawing/2014/main" id="{BC63CC0C-56E1-4CC9-A2F4-62A5F5995A67}"/>
              </a:ext>
            </a:extLst>
          </p:cNvPr>
          <p:cNvSpPr>
            <a:spLocks noGrp="1"/>
          </p:cNvSpPr>
          <p:nvPr/>
        </p:nvSpPr>
        <p:spPr>
          <a:xfrm>
            <a:off x="1276350" y="22860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Prevent</a:t>
            </a:r>
          </a:p>
        </p:txBody>
      </p:sp>
      <p:sp>
        <p:nvSpPr>
          <p:cNvPr id="9" name="Rectangle 8">
            <a:extLst>
              <a:ext uri="{FF2B5EF4-FFF2-40B4-BE49-F238E27FC236}">
                <a16:creationId xmlns:a16="http://schemas.microsoft.com/office/drawing/2014/main" id="{4A21485C-DFB2-4A18-B7A9-EDF50050BCC3}"/>
              </a:ext>
            </a:extLst>
          </p:cNvPr>
          <p:cNvSpPr>
            <a:spLocks noGrp="1"/>
          </p:cNvSpPr>
          <p:nvPr/>
        </p:nvSpPr>
        <p:spPr>
          <a:xfrm>
            <a:off x="1276350" y="26289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OWASP CRS, segmented networks, RBAC and two health-checked API replicas reduce exposure.</a:t>
            </a:r>
          </a:p>
        </p:txBody>
      </p:sp>
      <p:sp>
        <p:nvSpPr>
          <p:cNvPr id="10" name="Rectangle 9">
            <a:extLst>
              <a:ext uri="{FF2B5EF4-FFF2-40B4-BE49-F238E27FC236}">
                <a16:creationId xmlns:a16="http://schemas.microsoft.com/office/drawing/2014/main" id="{A992D3D7-8B60-4D41-8401-96847D555657}"/>
              </a:ext>
            </a:extLst>
          </p:cNvPr>
          <p:cNvSpPr>
            <a:spLocks noGrp="1"/>
          </p:cNvSpPr>
          <p:nvPr/>
        </p:nvSpPr>
        <p:spPr>
          <a:xfrm>
            <a:off x="1276350" y="3333750"/>
            <a:ext cx="4000500" cy="9525"/>
          </a:xfrm>
          <a:prstGeom prst="rect">
            <a:avLst/>
          </a:prstGeom>
          <a:solidFill>
            <a:srgbClr val="D9DAD6"/>
          </a:solidFill>
          <a:ln w="0">
            <a:noFill/>
            <a:prstDash val="solid"/>
          </a:ln>
        </p:spPr>
        <p:txBody>
          <a:bodyPr/>
          <a:lstStyle/>
          <a:p>
            <a:endParaRPr lang="en-LK"/>
          </a:p>
        </p:txBody>
      </p:sp>
      <p:sp>
        <p:nvSpPr>
          <p:cNvPr id="11" name="Rectangle 10">
            <a:extLst>
              <a:ext uri="{FF2B5EF4-FFF2-40B4-BE49-F238E27FC236}">
                <a16:creationId xmlns:a16="http://schemas.microsoft.com/office/drawing/2014/main" id="{15BDF8D1-A4A8-492A-8863-A44B6CEC25CA}"/>
              </a:ext>
            </a:extLst>
          </p:cNvPr>
          <p:cNvSpPr>
            <a:spLocks noGrp="1"/>
          </p:cNvSpPr>
          <p:nvPr/>
        </p:nvSpPr>
        <p:spPr>
          <a:xfrm>
            <a:off x="666750" y="358140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02</a:t>
            </a:r>
          </a:p>
        </p:txBody>
      </p:sp>
      <p:sp>
        <p:nvSpPr>
          <p:cNvPr id="12" name="Rectangle 11">
            <a:extLst>
              <a:ext uri="{FF2B5EF4-FFF2-40B4-BE49-F238E27FC236}">
                <a16:creationId xmlns:a16="http://schemas.microsoft.com/office/drawing/2014/main" id="{964E91F3-6482-48D5-8F06-392C8F0E6986}"/>
              </a:ext>
            </a:extLst>
          </p:cNvPr>
          <p:cNvSpPr>
            <a:spLocks noGrp="1"/>
          </p:cNvSpPr>
          <p:nvPr/>
        </p:nvSpPr>
        <p:spPr>
          <a:xfrm>
            <a:off x="1276350" y="356235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Detect</a:t>
            </a:r>
          </a:p>
        </p:txBody>
      </p:sp>
      <p:sp>
        <p:nvSpPr>
          <p:cNvPr id="13" name="Rectangle 12">
            <a:extLst>
              <a:ext uri="{FF2B5EF4-FFF2-40B4-BE49-F238E27FC236}">
                <a16:creationId xmlns:a16="http://schemas.microsoft.com/office/drawing/2014/main" id="{00469C2D-3B8B-4698-BC70-C72B7B7BF39A}"/>
              </a:ext>
            </a:extLst>
          </p:cNvPr>
          <p:cNvSpPr>
            <a:spLocks noGrp="1"/>
          </p:cNvSpPr>
          <p:nvPr/>
        </p:nvSpPr>
        <p:spPr>
          <a:xfrm>
            <a:off x="1276350" y="390525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Threshold-based SIEM rules and signed append-only audit make attacks and integrity failures visible.</a:t>
            </a:r>
          </a:p>
        </p:txBody>
      </p:sp>
      <p:sp>
        <p:nvSpPr>
          <p:cNvPr id="14" name="Rectangle 13">
            <a:extLst>
              <a:ext uri="{FF2B5EF4-FFF2-40B4-BE49-F238E27FC236}">
                <a16:creationId xmlns:a16="http://schemas.microsoft.com/office/drawing/2014/main" id="{10A7AFF6-5AD0-43C1-B22E-39C213993507}"/>
              </a:ext>
            </a:extLst>
          </p:cNvPr>
          <p:cNvSpPr>
            <a:spLocks noGrp="1"/>
          </p:cNvSpPr>
          <p:nvPr/>
        </p:nvSpPr>
        <p:spPr>
          <a:xfrm>
            <a:off x="1276350" y="4610100"/>
            <a:ext cx="4000500" cy="9525"/>
          </a:xfrm>
          <a:prstGeom prst="rect">
            <a:avLst/>
          </a:prstGeom>
          <a:solidFill>
            <a:srgbClr val="D9DAD6"/>
          </a:solidFill>
          <a:ln w="0">
            <a:noFill/>
            <a:prstDash val="solid"/>
          </a:ln>
        </p:spPr>
        <p:txBody>
          <a:bodyPr/>
          <a:lstStyle/>
          <a:p>
            <a:endParaRPr lang="en-LK"/>
          </a:p>
        </p:txBody>
      </p:sp>
      <p:sp>
        <p:nvSpPr>
          <p:cNvPr id="15" name="Rectangle 14">
            <a:extLst>
              <a:ext uri="{FF2B5EF4-FFF2-40B4-BE49-F238E27FC236}">
                <a16:creationId xmlns:a16="http://schemas.microsoft.com/office/drawing/2014/main" id="{B43539EA-B24A-4B86-9501-40216BC9DB94}"/>
              </a:ext>
            </a:extLst>
          </p:cNvPr>
          <p:cNvSpPr>
            <a:spLocks noGrp="1"/>
          </p:cNvSpPr>
          <p:nvPr/>
        </p:nvSpPr>
        <p:spPr>
          <a:xfrm>
            <a:off x="666750" y="48577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03</a:t>
            </a:r>
          </a:p>
        </p:txBody>
      </p:sp>
      <p:sp>
        <p:nvSpPr>
          <p:cNvPr id="16" name="Rectangle 15">
            <a:extLst>
              <a:ext uri="{FF2B5EF4-FFF2-40B4-BE49-F238E27FC236}">
                <a16:creationId xmlns:a16="http://schemas.microsoft.com/office/drawing/2014/main" id="{6EF7C793-7700-4F7D-A2E2-CE65C1AE4830}"/>
              </a:ext>
            </a:extLst>
          </p:cNvPr>
          <p:cNvSpPr>
            <a:spLocks noGrp="1"/>
          </p:cNvSpPr>
          <p:nvPr/>
        </p:nvSpPr>
        <p:spPr>
          <a:xfrm>
            <a:off x="1276350" y="48387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Recover</a:t>
            </a:r>
          </a:p>
        </p:txBody>
      </p:sp>
      <p:sp>
        <p:nvSpPr>
          <p:cNvPr id="17" name="Rectangle 16">
            <a:extLst>
              <a:ext uri="{FF2B5EF4-FFF2-40B4-BE49-F238E27FC236}">
                <a16:creationId xmlns:a16="http://schemas.microsoft.com/office/drawing/2014/main" id="{9F3F5DAF-A866-44A0-B3F8-5ED703F66963}"/>
              </a:ext>
            </a:extLst>
          </p:cNvPr>
          <p:cNvSpPr>
            <a:spLocks noGrp="1"/>
          </p:cNvSpPr>
          <p:nvPr/>
        </p:nvSpPr>
        <p:spPr>
          <a:xfrm>
            <a:off x="1276350" y="51816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Encrypted primary and DR copies, no-overwrite storage and restore validation keep a usable path back.</a:t>
            </a:r>
          </a:p>
        </p:txBody>
      </p:sp>
      <p:sp>
        <p:nvSpPr>
          <p:cNvPr id="18" name="Rectangle 17">
            <a:extLst>
              <a:ext uri="{FF2B5EF4-FFF2-40B4-BE49-F238E27FC236}">
                <a16:creationId xmlns:a16="http://schemas.microsoft.com/office/drawing/2014/main" id="{C8DF69B0-C3FF-46D7-8C91-1EAA55223270}"/>
              </a:ext>
            </a:extLst>
          </p:cNvPr>
          <p:cNvSpPr>
            <a:spLocks noGrp="1"/>
          </p:cNvSpPr>
          <p:nvPr/>
        </p:nvSpPr>
        <p:spPr>
          <a:xfrm>
            <a:off x="666750" y="6096000"/>
            <a:ext cx="10915650" cy="323850"/>
          </a:xfrm>
          <a:prstGeom prst="rect">
            <a:avLst/>
          </a:prstGeom>
          <a:solidFill>
            <a:srgbClr val="E6EBFF"/>
          </a:solidFill>
          <a:ln w="0">
            <a:noFill/>
            <a:prstDash val="solid"/>
          </a:ln>
        </p:spPr>
        <p:txBody>
          <a:bodyPr/>
          <a:lstStyle/>
          <a:p>
            <a:endParaRPr lang="en-LK"/>
          </a:p>
        </p:txBody>
      </p:sp>
      <p:sp>
        <p:nvSpPr>
          <p:cNvPr id="19" name="Rectangle 18">
            <a:extLst>
              <a:ext uri="{FF2B5EF4-FFF2-40B4-BE49-F238E27FC236}">
                <a16:creationId xmlns:a16="http://schemas.microsoft.com/office/drawing/2014/main" id="{A61508EF-5E27-48CC-9683-BAB1F528FF0D}"/>
              </a:ext>
            </a:extLst>
          </p:cNvPr>
          <p:cNvSpPr>
            <a:spLocks noGrp="1"/>
          </p:cNvSpPr>
          <p:nvPr/>
        </p:nvSpPr>
        <p:spPr>
          <a:xfrm>
            <a:off x="838200" y="6153150"/>
            <a:ext cx="10572750" cy="209550"/>
          </a:xfrm>
          <a:prstGeom prst="rect">
            <a:avLst/>
          </a:prstGeom>
          <a:noFill/>
          <a:ln w="0">
            <a:noFill/>
            <a:prstDash val="solid"/>
          </a:ln>
        </p:spPr>
        <p:txBody>
          <a:bodyPr lIns="0" tIns="0" rIns="0" bIns="0" anchor="t"/>
          <a:lstStyle/>
          <a:p>
            <a:pPr algn="l">
              <a:defRPr sz="1200" b="1">
                <a:solidFill>
                  <a:srgbClr val="2447C7"/>
                </a:solidFill>
                <a:latin typeface="Aptos"/>
                <a:ea typeface="Aptos"/>
                <a:cs typeface="Aptos"/>
              </a:defRPr>
            </a:pPr>
            <a:r>
              <a:rPr sz="1200" b="1">
                <a:solidFill>
                  <a:srgbClr val="2447C7"/>
                </a:solidFill>
                <a:latin typeface="Aptos"/>
                <a:ea typeface="Aptos"/>
                <a:cs typeface="Aptos"/>
              </a:rPr>
              <a:t>Admin proof: alerts · audit integrity · controls · backups — without customer transfer access</a:t>
            </a:r>
          </a:p>
        </p:txBody>
      </p:sp>
    </p:spTree>
    <p:extLst>
      <p:ext uri="{BB962C8B-B14F-4D97-AF65-F5344CB8AC3E}">
        <p14:creationId xmlns:p14="http://schemas.microsoft.com/office/powerpoint/2010/main" val="1868317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6F2"/>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0253D87-391F-41A1-95BF-7DA6788EB68E}"/>
              </a:ext>
            </a:extLst>
          </p:cNvPr>
          <p:cNvSpPr>
            <a:spLocks noGrp="1"/>
          </p:cNvSpPr>
          <p:nvPr/>
        </p:nvSpPr>
        <p:spPr>
          <a:xfrm>
            <a:off x="609600" y="304800"/>
            <a:ext cx="4762500" cy="209550"/>
          </a:xfrm>
          <a:prstGeom prst="rect">
            <a:avLst/>
          </a:prstGeom>
          <a:noFill/>
          <a:ln w="0">
            <a:noFill/>
            <a:prstDash val="solid"/>
          </a:ln>
        </p:spPr>
        <p:txBody>
          <a:bodyPr lIns="0" tIns="0" rIns="0" bIns="0" anchor="t"/>
          <a:lstStyle/>
          <a:p>
            <a:pPr algn="l">
              <a:defRPr sz="975" b="1">
                <a:solidFill>
                  <a:srgbClr val="2F5BFF"/>
                </a:solidFill>
                <a:latin typeface="Aptos"/>
                <a:ea typeface="Aptos"/>
                <a:cs typeface="Aptos"/>
              </a:defRPr>
            </a:pPr>
            <a:r>
              <a:rPr sz="975" b="1">
                <a:solidFill>
                  <a:srgbClr val="2F5BFF"/>
                </a:solidFill>
                <a:latin typeface="Aptos"/>
                <a:ea typeface="Aptos"/>
                <a:cs typeface="Aptos"/>
              </a:rPr>
              <a:t>03 / RECOVERY</a:t>
            </a:r>
          </a:p>
        </p:txBody>
      </p:sp>
      <p:sp>
        <p:nvSpPr>
          <p:cNvPr id="2" name="Rectangle 1">
            <a:extLst>
              <a:ext uri="{FF2B5EF4-FFF2-40B4-BE49-F238E27FC236}">
                <a16:creationId xmlns:a16="http://schemas.microsoft.com/office/drawing/2014/main" id="{0E061C24-BCDD-42CC-8317-3EA240763FEA}"/>
              </a:ext>
            </a:extLst>
          </p:cNvPr>
          <p:cNvSpPr>
            <a:spLocks noGrp="1"/>
          </p:cNvSpPr>
          <p:nvPr/>
        </p:nvSpPr>
        <p:spPr>
          <a:xfrm>
            <a:off x="10896600" y="285750"/>
            <a:ext cx="685800" cy="209550"/>
          </a:xfrm>
          <a:prstGeom prst="rect">
            <a:avLst/>
          </a:prstGeom>
          <a:noFill/>
          <a:ln w="0">
            <a:noFill/>
            <a:prstDash val="solid"/>
          </a:ln>
        </p:spPr>
        <p:txBody>
          <a:bodyPr lIns="0" tIns="0" rIns="0" bIns="0" anchor="t"/>
          <a:lstStyle/>
          <a:p>
            <a:pPr algn="r">
              <a:defRPr sz="975" b="0">
                <a:solidFill>
                  <a:srgbClr val="6E7278"/>
                </a:solidFill>
                <a:latin typeface="Cascadia Mono"/>
                <a:ea typeface="Cascadia Mono"/>
                <a:cs typeface="Cascadia Mono"/>
              </a:defRPr>
            </a:pPr>
            <a:r>
              <a:rPr sz="975" b="0">
                <a:solidFill>
                  <a:srgbClr val="6E7278"/>
                </a:solidFill>
                <a:latin typeface="Cascadia Mono"/>
                <a:ea typeface="Cascadia Mono"/>
                <a:cs typeface="Cascadia Mono"/>
              </a:rPr>
              <a:t>07</a:t>
            </a:r>
          </a:p>
        </p:txBody>
      </p:sp>
      <p:sp>
        <p:nvSpPr>
          <p:cNvPr id="3" name="Rectangle 2">
            <a:extLst>
              <a:ext uri="{FF2B5EF4-FFF2-40B4-BE49-F238E27FC236}">
                <a16:creationId xmlns:a16="http://schemas.microsoft.com/office/drawing/2014/main" id="{12AF1B78-C1D3-4201-BE0C-883CF33A7D8C}"/>
              </a:ext>
            </a:extLst>
          </p:cNvPr>
          <p:cNvSpPr>
            <a:spLocks noGrp="1"/>
          </p:cNvSpPr>
          <p:nvPr/>
        </p:nvSpPr>
        <p:spPr>
          <a:xfrm>
            <a:off x="609600" y="600075"/>
            <a:ext cx="10972800" cy="9525"/>
          </a:xfrm>
          <a:prstGeom prst="rect">
            <a:avLst/>
          </a:prstGeom>
          <a:solidFill>
            <a:srgbClr val="D9DAD6"/>
          </a:solidFill>
          <a:ln w="0">
            <a:noFill/>
            <a:prstDash val="solid"/>
          </a:ln>
        </p:spPr>
        <p:txBody>
          <a:bodyPr/>
          <a:lstStyle/>
          <a:p>
            <a:endParaRPr lang="en-LK"/>
          </a:p>
        </p:txBody>
      </p:sp>
      <p:sp>
        <p:nvSpPr>
          <p:cNvPr id="4" name="Rectangle 3">
            <a:extLst>
              <a:ext uri="{FF2B5EF4-FFF2-40B4-BE49-F238E27FC236}">
                <a16:creationId xmlns:a16="http://schemas.microsoft.com/office/drawing/2014/main" id="{E6EBC698-7D69-48BB-A5A7-C58E4E8B6E6B}"/>
              </a:ext>
            </a:extLst>
          </p:cNvPr>
          <p:cNvSpPr>
            <a:spLocks noGrp="1"/>
          </p:cNvSpPr>
          <p:nvPr/>
        </p:nvSpPr>
        <p:spPr>
          <a:xfrm>
            <a:off x="609600" y="876300"/>
            <a:ext cx="10572750" cy="571500"/>
          </a:xfrm>
          <a:prstGeom prst="rect">
            <a:avLst/>
          </a:prstGeom>
          <a:noFill/>
          <a:ln w="0">
            <a:noFill/>
            <a:prstDash val="solid"/>
          </a:ln>
        </p:spPr>
        <p:txBody>
          <a:bodyPr lIns="0" tIns="0" rIns="0" bIns="0" anchor="t"/>
          <a:lstStyle/>
          <a:p>
            <a:pPr algn="l">
              <a:defRPr sz="3300" b="1">
                <a:solidFill>
                  <a:srgbClr val="18191B"/>
                </a:solidFill>
                <a:latin typeface="Aptos Display"/>
                <a:ea typeface="Aptos Display"/>
                <a:cs typeface="Aptos Display"/>
              </a:defRPr>
            </a:pPr>
            <a:r>
              <a:rPr sz="3300" b="1">
                <a:solidFill>
                  <a:srgbClr val="18191B"/>
                </a:solidFill>
                <a:latin typeface="Aptos Display"/>
                <a:ea typeface="Aptos Display"/>
                <a:cs typeface="Aptos Display"/>
              </a:rPr>
              <a:t>Recovery is verified before it is trusted.</a:t>
            </a:r>
          </a:p>
        </p:txBody>
      </p:sp>
      <p:sp>
        <p:nvSpPr>
          <p:cNvPr id="5" name="Rectangle 4">
            <a:extLst>
              <a:ext uri="{FF2B5EF4-FFF2-40B4-BE49-F238E27FC236}">
                <a16:creationId xmlns:a16="http://schemas.microsoft.com/office/drawing/2014/main" id="{1DE95524-1542-4649-BFAD-9B0C145CB9A4}"/>
              </a:ext>
            </a:extLst>
          </p:cNvPr>
          <p:cNvSpPr>
            <a:spLocks noGrp="1"/>
          </p:cNvSpPr>
          <p:nvPr/>
        </p:nvSpPr>
        <p:spPr>
          <a:xfrm>
            <a:off x="628650" y="1524000"/>
            <a:ext cx="9715500" cy="419100"/>
          </a:xfrm>
          <a:prstGeom prst="rect">
            <a:avLst/>
          </a:prstGeom>
          <a:noFill/>
          <a:ln w="0">
            <a:noFill/>
            <a:prstDash val="solid"/>
          </a:ln>
        </p:spPr>
        <p:txBody>
          <a:bodyPr lIns="0" tIns="0" rIns="0" bIns="0" anchor="t"/>
          <a:lstStyle/>
          <a:p>
            <a:pPr algn="l">
              <a:defRPr sz="1425" b="0">
                <a:solidFill>
                  <a:srgbClr val="6E7278"/>
                </a:solidFill>
                <a:latin typeface="Aptos"/>
                <a:ea typeface="Aptos"/>
                <a:cs typeface="Aptos"/>
              </a:defRPr>
            </a:pPr>
            <a:r>
              <a:rPr sz="1425" b="0">
                <a:solidFill>
                  <a:srgbClr val="6E7278"/>
                </a:solidFill>
                <a:latin typeface="Aptos"/>
                <a:ea typeface="Aptos"/>
                <a:cs typeface="Aptos"/>
              </a:rPr>
              <a:t>The restore check proves authenticity, integrity, confidentiality and usability in one run.</a:t>
            </a:r>
          </a:p>
        </p:txBody>
      </p:sp>
      <p:pic>
        <p:nvPicPr>
          <p:cNvPr id="30" name="Picture 29"/>
          <p:cNvPicPr>
            <a:picLocks noChangeAspect="1"/>
          </p:cNvPicPr>
          <p:nvPr/>
        </p:nvPicPr>
        <p:blipFill>
          <a:blip r:embed="rId3"/>
          <a:srcRect l="4351" r="4351"/>
          <a:stretch>
            <a:fillRect/>
          </a:stretch>
        </p:blipFill>
        <p:spPr>
          <a:xfrm>
            <a:off x="6286500" y="2038350"/>
            <a:ext cx="5295900" cy="3867150"/>
          </a:xfrm>
          <a:prstGeom prst="roundRect">
            <a:avLst>
              <a:gd name="adj" fmla="val 1970"/>
            </a:avLst>
          </a:prstGeom>
        </p:spPr>
      </p:pic>
      <p:sp>
        <p:nvSpPr>
          <p:cNvPr id="7" name="Rectangle 6">
            <a:extLst>
              <a:ext uri="{FF2B5EF4-FFF2-40B4-BE49-F238E27FC236}">
                <a16:creationId xmlns:a16="http://schemas.microsoft.com/office/drawing/2014/main" id="{8026441C-66B1-4C5B-9D52-6579446EBACE}"/>
              </a:ext>
            </a:extLst>
          </p:cNvPr>
          <p:cNvSpPr>
            <a:spLocks noGrp="1"/>
          </p:cNvSpPr>
          <p:nvPr/>
        </p:nvSpPr>
        <p:spPr>
          <a:xfrm>
            <a:off x="666750" y="21907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01</a:t>
            </a:r>
          </a:p>
        </p:txBody>
      </p:sp>
      <p:sp>
        <p:nvSpPr>
          <p:cNvPr id="8" name="Rectangle 7">
            <a:extLst>
              <a:ext uri="{FF2B5EF4-FFF2-40B4-BE49-F238E27FC236}">
                <a16:creationId xmlns:a16="http://schemas.microsoft.com/office/drawing/2014/main" id="{3E836972-0AC5-48A3-A04B-BDE76846049D}"/>
              </a:ext>
            </a:extLst>
          </p:cNvPr>
          <p:cNvSpPr>
            <a:spLocks noGrp="1"/>
          </p:cNvSpPr>
          <p:nvPr/>
        </p:nvSpPr>
        <p:spPr>
          <a:xfrm>
            <a:off x="1276350" y="21717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Encrypt</a:t>
            </a:r>
          </a:p>
        </p:txBody>
      </p:sp>
      <p:sp>
        <p:nvSpPr>
          <p:cNvPr id="9" name="Rectangle 8">
            <a:extLst>
              <a:ext uri="{FF2B5EF4-FFF2-40B4-BE49-F238E27FC236}">
                <a16:creationId xmlns:a16="http://schemas.microsoft.com/office/drawing/2014/main" id="{49FCD5C1-F2CF-4A9F-AB05-C283C20C14DB}"/>
              </a:ext>
            </a:extLst>
          </p:cNvPr>
          <p:cNvSpPr>
            <a:spLocks noGrp="1"/>
          </p:cNvSpPr>
          <p:nvPr/>
        </p:nvSpPr>
        <p:spPr>
          <a:xfrm>
            <a:off x="1276350" y="25146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A unique AES-256-GCM data key and nonce protect each database dump.</a:t>
            </a:r>
          </a:p>
        </p:txBody>
      </p:sp>
      <p:sp>
        <p:nvSpPr>
          <p:cNvPr id="10" name="Rectangle 9">
            <a:extLst>
              <a:ext uri="{FF2B5EF4-FFF2-40B4-BE49-F238E27FC236}">
                <a16:creationId xmlns:a16="http://schemas.microsoft.com/office/drawing/2014/main" id="{A76EAC43-325B-4C56-B78F-3E2D9F3B4D5E}"/>
              </a:ext>
            </a:extLst>
          </p:cNvPr>
          <p:cNvSpPr>
            <a:spLocks noGrp="1"/>
          </p:cNvSpPr>
          <p:nvPr/>
        </p:nvSpPr>
        <p:spPr>
          <a:xfrm>
            <a:off x="1276350" y="3105150"/>
            <a:ext cx="4000500" cy="9525"/>
          </a:xfrm>
          <a:prstGeom prst="rect">
            <a:avLst/>
          </a:prstGeom>
          <a:solidFill>
            <a:srgbClr val="D9DAD6"/>
          </a:solidFill>
          <a:ln w="0">
            <a:noFill/>
            <a:prstDash val="solid"/>
          </a:ln>
        </p:spPr>
        <p:txBody>
          <a:bodyPr/>
          <a:lstStyle/>
          <a:p>
            <a:endParaRPr lang="en-LK"/>
          </a:p>
        </p:txBody>
      </p:sp>
      <p:sp>
        <p:nvSpPr>
          <p:cNvPr id="11" name="Rectangle 10">
            <a:extLst>
              <a:ext uri="{FF2B5EF4-FFF2-40B4-BE49-F238E27FC236}">
                <a16:creationId xmlns:a16="http://schemas.microsoft.com/office/drawing/2014/main" id="{B46C4BFE-487C-40DD-820F-87FDA84EDE84}"/>
              </a:ext>
            </a:extLst>
          </p:cNvPr>
          <p:cNvSpPr>
            <a:spLocks noGrp="1"/>
          </p:cNvSpPr>
          <p:nvPr/>
        </p:nvSpPr>
        <p:spPr>
          <a:xfrm>
            <a:off x="666750" y="33337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02</a:t>
            </a:r>
          </a:p>
        </p:txBody>
      </p:sp>
      <p:sp>
        <p:nvSpPr>
          <p:cNvPr id="12" name="Rectangle 11">
            <a:extLst>
              <a:ext uri="{FF2B5EF4-FFF2-40B4-BE49-F238E27FC236}">
                <a16:creationId xmlns:a16="http://schemas.microsoft.com/office/drawing/2014/main" id="{D136F530-BF15-4BC2-9D2D-1C0FF644C3B7}"/>
              </a:ext>
            </a:extLst>
          </p:cNvPr>
          <p:cNvSpPr>
            <a:spLocks noGrp="1"/>
          </p:cNvSpPr>
          <p:nvPr/>
        </p:nvSpPr>
        <p:spPr>
          <a:xfrm>
            <a:off x="1276350" y="33147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Sign and hash</a:t>
            </a:r>
          </a:p>
        </p:txBody>
      </p:sp>
      <p:sp>
        <p:nvSpPr>
          <p:cNvPr id="13" name="Rectangle 12">
            <a:extLst>
              <a:ext uri="{FF2B5EF4-FFF2-40B4-BE49-F238E27FC236}">
                <a16:creationId xmlns:a16="http://schemas.microsoft.com/office/drawing/2014/main" id="{6935A387-504E-465E-A750-1EBFB7015ECB}"/>
              </a:ext>
            </a:extLst>
          </p:cNvPr>
          <p:cNvSpPr>
            <a:spLocks noGrp="1"/>
          </p:cNvSpPr>
          <p:nvPr/>
        </p:nvSpPr>
        <p:spPr>
          <a:xfrm>
            <a:off x="1276350" y="36576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The manifest is signed; SHA-256 covers the ciphertext; the data key is wrapped.</a:t>
            </a:r>
          </a:p>
        </p:txBody>
      </p:sp>
      <p:sp>
        <p:nvSpPr>
          <p:cNvPr id="14" name="Rectangle 13">
            <a:extLst>
              <a:ext uri="{FF2B5EF4-FFF2-40B4-BE49-F238E27FC236}">
                <a16:creationId xmlns:a16="http://schemas.microsoft.com/office/drawing/2014/main" id="{2E8CC8BD-82AB-4E2B-8F07-B16804BD049F}"/>
              </a:ext>
            </a:extLst>
          </p:cNvPr>
          <p:cNvSpPr>
            <a:spLocks noGrp="1"/>
          </p:cNvSpPr>
          <p:nvPr/>
        </p:nvSpPr>
        <p:spPr>
          <a:xfrm>
            <a:off x="1276350" y="4248150"/>
            <a:ext cx="4000500" cy="9525"/>
          </a:xfrm>
          <a:prstGeom prst="rect">
            <a:avLst/>
          </a:prstGeom>
          <a:solidFill>
            <a:srgbClr val="D9DAD6"/>
          </a:solidFill>
          <a:ln w="0">
            <a:noFill/>
            <a:prstDash val="solid"/>
          </a:ln>
        </p:spPr>
        <p:txBody>
          <a:bodyPr/>
          <a:lstStyle/>
          <a:p>
            <a:endParaRPr lang="en-LK"/>
          </a:p>
        </p:txBody>
      </p:sp>
      <p:sp>
        <p:nvSpPr>
          <p:cNvPr id="15" name="Rectangle 14">
            <a:extLst>
              <a:ext uri="{FF2B5EF4-FFF2-40B4-BE49-F238E27FC236}">
                <a16:creationId xmlns:a16="http://schemas.microsoft.com/office/drawing/2014/main" id="{10930DA4-C0E7-4599-8F9B-43E243262943}"/>
              </a:ext>
            </a:extLst>
          </p:cNvPr>
          <p:cNvSpPr>
            <a:spLocks noGrp="1"/>
          </p:cNvSpPr>
          <p:nvPr/>
        </p:nvSpPr>
        <p:spPr>
          <a:xfrm>
            <a:off x="666750" y="44767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03</a:t>
            </a:r>
          </a:p>
        </p:txBody>
      </p:sp>
      <p:sp>
        <p:nvSpPr>
          <p:cNvPr id="16" name="Rectangle 15">
            <a:extLst>
              <a:ext uri="{FF2B5EF4-FFF2-40B4-BE49-F238E27FC236}">
                <a16:creationId xmlns:a16="http://schemas.microsoft.com/office/drawing/2014/main" id="{879C4FE9-093F-42A7-968D-0CBC6BEF15CF}"/>
              </a:ext>
            </a:extLst>
          </p:cNvPr>
          <p:cNvSpPr>
            <a:spLocks noGrp="1"/>
          </p:cNvSpPr>
          <p:nvPr/>
        </p:nvSpPr>
        <p:spPr>
          <a:xfrm>
            <a:off x="1276350" y="44577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Replicate</a:t>
            </a:r>
          </a:p>
        </p:txBody>
      </p:sp>
      <p:sp>
        <p:nvSpPr>
          <p:cNvPr id="17" name="Rectangle 16">
            <a:extLst>
              <a:ext uri="{FF2B5EF4-FFF2-40B4-BE49-F238E27FC236}">
                <a16:creationId xmlns:a16="http://schemas.microsoft.com/office/drawing/2014/main" id="{FA9047C4-34DA-452F-860D-3314F0A9AD6F}"/>
              </a:ext>
            </a:extLst>
          </p:cNvPr>
          <p:cNvSpPr>
            <a:spLocks noGrp="1"/>
          </p:cNvSpPr>
          <p:nvPr/>
        </p:nvSpPr>
        <p:spPr>
          <a:xfrm>
            <a:off x="1276350" y="48006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Ed25519 SFTP writes the same immutable artefacts to primary and DR stores.</a:t>
            </a:r>
          </a:p>
        </p:txBody>
      </p:sp>
      <p:sp>
        <p:nvSpPr>
          <p:cNvPr id="18" name="Rectangle 17">
            <a:extLst>
              <a:ext uri="{FF2B5EF4-FFF2-40B4-BE49-F238E27FC236}">
                <a16:creationId xmlns:a16="http://schemas.microsoft.com/office/drawing/2014/main" id="{CE949B2D-FC61-484C-9EBC-68502E278473}"/>
              </a:ext>
            </a:extLst>
          </p:cNvPr>
          <p:cNvSpPr>
            <a:spLocks noGrp="1"/>
          </p:cNvSpPr>
          <p:nvPr/>
        </p:nvSpPr>
        <p:spPr>
          <a:xfrm>
            <a:off x="1276350" y="5391150"/>
            <a:ext cx="4000500" cy="9525"/>
          </a:xfrm>
          <a:prstGeom prst="rect">
            <a:avLst/>
          </a:prstGeom>
          <a:solidFill>
            <a:srgbClr val="D9DAD6"/>
          </a:solidFill>
          <a:ln w="0">
            <a:noFill/>
            <a:prstDash val="solid"/>
          </a:ln>
        </p:spPr>
        <p:txBody>
          <a:bodyPr/>
          <a:lstStyle/>
          <a:p>
            <a:endParaRPr lang="en-LK"/>
          </a:p>
        </p:txBody>
      </p:sp>
      <p:sp>
        <p:nvSpPr>
          <p:cNvPr id="19" name="Rectangle 18">
            <a:extLst>
              <a:ext uri="{FF2B5EF4-FFF2-40B4-BE49-F238E27FC236}">
                <a16:creationId xmlns:a16="http://schemas.microsoft.com/office/drawing/2014/main" id="{0D5E2467-8008-46BB-A39E-74826E971E15}"/>
              </a:ext>
            </a:extLst>
          </p:cNvPr>
          <p:cNvSpPr>
            <a:spLocks noGrp="1"/>
          </p:cNvSpPr>
          <p:nvPr/>
        </p:nvSpPr>
        <p:spPr>
          <a:xfrm>
            <a:off x="666750" y="5619750"/>
            <a:ext cx="495300" cy="266700"/>
          </a:xfrm>
          <a:prstGeom prst="rect">
            <a:avLst/>
          </a:prstGeom>
          <a:noFill/>
          <a:ln w="0">
            <a:noFill/>
            <a:prstDash val="solid"/>
          </a:ln>
        </p:spPr>
        <p:txBody>
          <a:bodyPr lIns="0" tIns="0" rIns="0" bIns="0" anchor="t"/>
          <a:lstStyle/>
          <a:p>
            <a:pPr algn="l">
              <a:defRPr sz="1200" b="1">
                <a:solidFill>
                  <a:srgbClr val="2F5BFF"/>
                </a:solidFill>
                <a:latin typeface="Cascadia Mono"/>
                <a:ea typeface="Cascadia Mono"/>
                <a:cs typeface="Cascadia Mono"/>
              </a:defRPr>
            </a:pPr>
            <a:r>
              <a:rPr sz="1200" b="1">
                <a:solidFill>
                  <a:srgbClr val="2F5BFF"/>
                </a:solidFill>
                <a:latin typeface="Cascadia Mono"/>
                <a:ea typeface="Cascadia Mono"/>
                <a:cs typeface="Cascadia Mono"/>
              </a:rPr>
              <a:t>04</a:t>
            </a:r>
          </a:p>
        </p:txBody>
      </p:sp>
      <p:sp>
        <p:nvSpPr>
          <p:cNvPr id="20" name="Rectangle 19">
            <a:extLst>
              <a:ext uri="{FF2B5EF4-FFF2-40B4-BE49-F238E27FC236}">
                <a16:creationId xmlns:a16="http://schemas.microsoft.com/office/drawing/2014/main" id="{D11CFECE-E21A-4B5D-A7F3-BD6AC16F7A09}"/>
              </a:ext>
            </a:extLst>
          </p:cNvPr>
          <p:cNvSpPr>
            <a:spLocks noGrp="1"/>
          </p:cNvSpPr>
          <p:nvPr/>
        </p:nvSpPr>
        <p:spPr>
          <a:xfrm>
            <a:off x="1276350" y="5600700"/>
            <a:ext cx="4248150" cy="285750"/>
          </a:xfrm>
          <a:prstGeom prst="rect">
            <a:avLst/>
          </a:prstGeom>
          <a:noFill/>
          <a:ln w="0">
            <a:noFill/>
            <a:prstDash val="solid"/>
          </a:ln>
        </p:spPr>
        <p:txBody>
          <a:bodyPr lIns="0" tIns="0" rIns="0" bIns="0" anchor="t"/>
          <a:lstStyle/>
          <a:p>
            <a:pPr algn="l">
              <a:defRPr sz="1725" b="1">
                <a:solidFill>
                  <a:srgbClr val="18191B"/>
                </a:solidFill>
                <a:latin typeface="Aptos Display"/>
                <a:ea typeface="Aptos Display"/>
                <a:cs typeface="Aptos Display"/>
              </a:defRPr>
            </a:pPr>
            <a:r>
              <a:rPr sz="1725" b="1">
                <a:solidFill>
                  <a:srgbClr val="18191B"/>
                </a:solidFill>
                <a:latin typeface="Aptos Display"/>
                <a:ea typeface="Aptos Display"/>
                <a:cs typeface="Aptos Display"/>
              </a:rPr>
              <a:t>Restore</a:t>
            </a:r>
          </a:p>
        </p:txBody>
      </p:sp>
      <p:sp>
        <p:nvSpPr>
          <p:cNvPr id="21" name="Rectangle 20">
            <a:extLst>
              <a:ext uri="{FF2B5EF4-FFF2-40B4-BE49-F238E27FC236}">
                <a16:creationId xmlns:a16="http://schemas.microsoft.com/office/drawing/2014/main" id="{7E28AE62-CCC9-4A5D-BA7F-0F677BC6180D}"/>
              </a:ext>
            </a:extLst>
          </p:cNvPr>
          <p:cNvSpPr>
            <a:spLocks noGrp="1"/>
          </p:cNvSpPr>
          <p:nvPr/>
        </p:nvSpPr>
        <p:spPr>
          <a:xfrm>
            <a:off x="1276350" y="5943600"/>
            <a:ext cx="4248150" cy="571500"/>
          </a:xfrm>
          <a:prstGeom prst="rect">
            <a:avLst/>
          </a:prstGeom>
          <a:noFill/>
          <a:ln w="0">
            <a:noFill/>
            <a:prstDash val="solid"/>
          </a:ln>
        </p:spPr>
        <p:txBody>
          <a:bodyPr lIns="0" tIns="0" rIns="0" bIns="0" anchor="t"/>
          <a:lstStyle/>
          <a:p>
            <a:pPr algn="l">
              <a:defRPr sz="1275" b="0">
                <a:solidFill>
                  <a:srgbClr val="6E7278"/>
                </a:solidFill>
                <a:latin typeface="Aptos"/>
                <a:ea typeface="Aptos"/>
                <a:cs typeface="Aptos"/>
              </a:defRPr>
            </a:pPr>
            <a:r>
              <a:rPr sz="1275" b="0">
                <a:solidFill>
                  <a:srgbClr val="6E7278"/>
                </a:solidFill>
                <a:latin typeface="Aptos"/>
                <a:ea typeface="Aptos"/>
                <a:cs typeface="Aptos"/>
              </a:rPr>
              <a:t>Verification happens before decryption and a disposable database is queried at the end.</a:t>
            </a:r>
          </a:p>
        </p:txBody>
      </p:sp>
      <p:sp>
        <p:nvSpPr>
          <p:cNvPr id="22" name="Rectangle 21">
            <a:extLst>
              <a:ext uri="{FF2B5EF4-FFF2-40B4-BE49-F238E27FC236}">
                <a16:creationId xmlns:a16="http://schemas.microsoft.com/office/drawing/2014/main" id="{1F59D35B-CD46-41DF-98D2-201353019E7E}"/>
              </a:ext>
            </a:extLst>
          </p:cNvPr>
          <p:cNvSpPr>
            <a:spLocks noGrp="1"/>
          </p:cNvSpPr>
          <p:nvPr/>
        </p:nvSpPr>
        <p:spPr>
          <a:xfrm>
            <a:off x="6286500" y="6076950"/>
            <a:ext cx="5295900" cy="438150"/>
          </a:xfrm>
          <a:prstGeom prst="rect">
            <a:avLst/>
          </a:prstGeom>
          <a:solidFill>
            <a:srgbClr val="25272B"/>
          </a:solidFill>
          <a:ln w="0">
            <a:noFill/>
            <a:prstDash val="solid"/>
          </a:ln>
        </p:spPr>
        <p:txBody>
          <a:bodyPr/>
          <a:lstStyle/>
          <a:p>
            <a:endParaRPr lang="en-LK"/>
          </a:p>
        </p:txBody>
      </p:sp>
      <p:sp>
        <p:nvSpPr>
          <p:cNvPr id="23" name="Rectangle 22">
            <a:extLst>
              <a:ext uri="{FF2B5EF4-FFF2-40B4-BE49-F238E27FC236}">
                <a16:creationId xmlns:a16="http://schemas.microsoft.com/office/drawing/2014/main" id="{879D2F01-F340-4DD6-B2FD-A70FA9DAA8FB}"/>
              </a:ext>
            </a:extLst>
          </p:cNvPr>
          <p:cNvSpPr>
            <a:spLocks noGrp="1"/>
          </p:cNvSpPr>
          <p:nvPr/>
        </p:nvSpPr>
        <p:spPr>
          <a:xfrm>
            <a:off x="6286500" y="6076950"/>
            <a:ext cx="47625" cy="438150"/>
          </a:xfrm>
          <a:prstGeom prst="rect">
            <a:avLst/>
          </a:prstGeom>
          <a:solidFill>
            <a:srgbClr val="2F5BFF"/>
          </a:solidFill>
          <a:ln w="0">
            <a:noFill/>
            <a:prstDash val="solid"/>
          </a:ln>
        </p:spPr>
        <p:txBody>
          <a:bodyPr/>
          <a:lstStyle/>
          <a:p>
            <a:endParaRPr lang="en-LK"/>
          </a:p>
        </p:txBody>
      </p:sp>
      <p:sp>
        <p:nvSpPr>
          <p:cNvPr id="24" name="Rectangle 23">
            <a:extLst>
              <a:ext uri="{FF2B5EF4-FFF2-40B4-BE49-F238E27FC236}">
                <a16:creationId xmlns:a16="http://schemas.microsoft.com/office/drawing/2014/main" id="{804A451D-BCBE-4E8F-B743-4DC8E9CD92A1}"/>
              </a:ext>
            </a:extLst>
          </p:cNvPr>
          <p:cNvSpPr>
            <a:spLocks noGrp="1"/>
          </p:cNvSpPr>
          <p:nvPr/>
        </p:nvSpPr>
        <p:spPr>
          <a:xfrm>
            <a:off x="6457950" y="6172200"/>
            <a:ext cx="5029200" cy="247650"/>
          </a:xfrm>
          <a:prstGeom prst="rect">
            <a:avLst/>
          </a:prstGeom>
          <a:noFill/>
          <a:ln w="0">
            <a:noFill/>
            <a:prstDash val="solid"/>
          </a:ln>
        </p:spPr>
        <p:txBody>
          <a:bodyPr lIns="0" tIns="0" rIns="0" bIns="0" anchor="ctr"/>
          <a:lstStyle/>
          <a:p>
            <a:pPr algn="l">
              <a:defRPr sz="1125" b="0">
                <a:solidFill>
                  <a:srgbClr val="FFFFFF"/>
                </a:solidFill>
                <a:latin typeface="Cascadia Mono"/>
                <a:ea typeface="Cascadia Mono"/>
                <a:cs typeface="Cascadia Mono"/>
              </a:defRPr>
            </a:pPr>
            <a:r>
              <a:rPr sz="1125" b="0">
                <a:solidFill>
                  <a:srgbClr val="FFFFFF"/>
                </a:solidFill>
                <a:latin typeface="Cascadia Mono"/>
                <a:ea typeface="Cascadia Mono"/>
                <a:cs typeface="Cascadia Mono"/>
              </a:rPr>
              <a:t>docker compose --profile restore run --rm restore-check</a:t>
            </a:r>
          </a:p>
        </p:txBody>
      </p:sp>
    </p:spTree>
    <p:extLst>
      <p:ext uri="{BB962C8B-B14F-4D97-AF65-F5344CB8AC3E}">
        <p14:creationId xmlns:p14="http://schemas.microsoft.com/office/powerpoint/2010/main" val="550360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5272B"/>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FE90DCF-3DD8-4AE1-B3FD-96DBE437D193}"/>
              </a:ext>
            </a:extLst>
          </p:cNvPr>
          <p:cNvSpPr>
            <a:spLocks noGrp="1"/>
          </p:cNvSpPr>
          <p:nvPr/>
        </p:nvSpPr>
        <p:spPr>
          <a:xfrm>
            <a:off x="666750" y="590550"/>
            <a:ext cx="2857500" cy="209550"/>
          </a:xfrm>
          <a:prstGeom prst="rect">
            <a:avLst/>
          </a:prstGeom>
          <a:noFill/>
          <a:ln w="0">
            <a:noFill/>
            <a:prstDash val="solid"/>
          </a:ln>
        </p:spPr>
        <p:txBody>
          <a:bodyPr lIns="0" tIns="0" rIns="0" bIns="0" anchor="t"/>
          <a:lstStyle/>
          <a:p>
            <a:pPr algn="l">
              <a:defRPr sz="975" b="1">
                <a:solidFill>
                  <a:srgbClr val="8FA7FF"/>
                </a:solidFill>
                <a:latin typeface="Aptos"/>
                <a:ea typeface="Aptos"/>
                <a:cs typeface="Aptos"/>
              </a:defRPr>
            </a:pPr>
            <a:r>
              <a:rPr sz="975" b="1">
                <a:solidFill>
                  <a:srgbClr val="8FA7FF"/>
                </a:solidFill>
                <a:latin typeface="Aptos"/>
                <a:ea typeface="Aptos"/>
                <a:cs typeface="Aptos"/>
              </a:rPr>
              <a:t>CONCLUSION</a:t>
            </a:r>
          </a:p>
        </p:txBody>
      </p:sp>
      <p:sp>
        <p:nvSpPr>
          <p:cNvPr id="2" name="Rectangle 1">
            <a:extLst>
              <a:ext uri="{FF2B5EF4-FFF2-40B4-BE49-F238E27FC236}">
                <a16:creationId xmlns:a16="http://schemas.microsoft.com/office/drawing/2014/main" id="{F6C89C16-B657-45D3-B4D7-694A14302E89}"/>
              </a:ext>
            </a:extLst>
          </p:cNvPr>
          <p:cNvSpPr>
            <a:spLocks noGrp="1"/>
          </p:cNvSpPr>
          <p:nvPr/>
        </p:nvSpPr>
        <p:spPr>
          <a:xfrm>
            <a:off x="647700" y="1352550"/>
            <a:ext cx="6858000" cy="704850"/>
          </a:xfrm>
          <a:prstGeom prst="rect">
            <a:avLst/>
          </a:prstGeom>
          <a:noFill/>
          <a:ln w="0">
            <a:noFill/>
            <a:prstDash val="solid"/>
          </a:ln>
        </p:spPr>
        <p:txBody>
          <a:bodyPr lIns="0" tIns="0" rIns="0" bIns="0" anchor="t"/>
          <a:lstStyle/>
          <a:p>
            <a:pPr algn="l">
              <a:defRPr sz="4200" b="1">
                <a:solidFill>
                  <a:srgbClr val="FFFFFF"/>
                </a:solidFill>
                <a:latin typeface="Aptos Display"/>
                <a:ea typeface="Aptos Display"/>
                <a:cs typeface="Aptos Display"/>
              </a:defRPr>
            </a:pPr>
            <a:r>
              <a:rPr sz="4200" b="1">
                <a:solidFill>
                  <a:srgbClr val="FFFFFF"/>
                </a:solidFill>
                <a:latin typeface="Aptos Display"/>
                <a:ea typeface="Aptos Display"/>
                <a:cs typeface="Aptos Display"/>
              </a:rPr>
              <a:t>What this prototype proves.</a:t>
            </a:r>
          </a:p>
        </p:txBody>
      </p:sp>
      <p:sp>
        <p:nvSpPr>
          <p:cNvPr id="3" name="Rectangle 2">
            <a:extLst>
              <a:ext uri="{FF2B5EF4-FFF2-40B4-BE49-F238E27FC236}">
                <a16:creationId xmlns:a16="http://schemas.microsoft.com/office/drawing/2014/main" id="{903C550D-F7F1-41DD-9A0B-630667E34F7A}"/>
              </a:ext>
            </a:extLst>
          </p:cNvPr>
          <p:cNvSpPr>
            <a:spLocks noGrp="1"/>
          </p:cNvSpPr>
          <p:nvPr/>
        </p:nvSpPr>
        <p:spPr>
          <a:xfrm>
            <a:off x="685800" y="2305050"/>
            <a:ext cx="6191250" cy="704850"/>
          </a:xfrm>
          <a:prstGeom prst="rect">
            <a:avLst/>
          </a:prstGeom>
          <a:noFill/>
          <a:ln w="0">
            <a:noFill/>
            <a:prstDash val="solid"/>
          </a:ln>
        </p:spPr>
        <p:txBody>
          <a:bodyPr lIns="0" tIns="0" rIns="0" bIns="0" anchor="t"/>
          <a:lstStyle/>
          <a:p>
            <a:pPr algn="l">
              <a:defRPr sz="1800" b="0">
                <a:solidFill>
                  <a:srgbClr val="C9CCD1"/>
                </a:solidFill>
                <a:latin typeface="Aptos"/>
                <a:ea typeface="Aptos"/>
                <a:cs typeface="Aptos"/>
              </a:defRPr>
            </a:pPr>
            <a:r>
              <a:rPr sz="1800" b="0">
                <a:solidFill>
                  <a:srgbClr val="C9CCD1"/>
                </a:solidFill>
                <a:latin typeface="Aptos"/>
                <a:ea typeface="Aptos"/>
                <a:cs typeface="Aptos"/>
              </a:rPr>
              <a:t>A control is only credible here when we can also show its rejection path and its evidence.</a:t>
            </a:r>
          </a:p>
        </p:txBody>
      </p:sp>
      <p:sp>
        <p:nvSpPr>
          <p:cNvPr id="4" name="Rectangle 3">
            <a:extLst>
              <a:ext uri="{FF2B5EF4-FFF2-40B4-BE49-F238E27FC236}">
                <a16:creationId xmlns:a16="http://schemas.microsoft.com/office/drawing/2014/main" id="{BB0FF547-3CFD-404A-81D7-5C7174340FD0}"/>
              </a:ext>
            </a:extLst>
          </p:cNvPr>
          <p:cNvSpPr>
            <a:spLocks noGrp="1"/>
          </p:cNvSpPr>
          <p:nvPr/>
        </p:nvSpPr>
        <p:spPr>
          <a:xfrm>
            <a:off x="7943850" y="838200"/>
            <a:ext cx="3143250" cy="2571750"/>
          </a:xfrm>
          <a:prstGeom prst="rect">
            <a:avLst/>
          </a:prstGeom>
          <a:solidFill>
            <a:srgbClr val="2F5BFF"/>
          </a:solidFill>
          <a:ln w="0">
            <a:noFill/>
            <a:prstDash val="solid"/>
          </a:ln>
        </p:spPr>
        <p:txBody>
          <a:bodyPr/>
          <a:lstStyle/>
          <a:p>
            <a:endParaRPr lang="en-LK"/>
          </a:p>
        </p:txBody>
      </p:sp>
      <p:sp>
        <p:nvSpPr>
          <p:cNvPr id="5" name="Rectangle 4">
            <a:extLst>
              <a:ext uri="{FF2B5EF4-FFF2-40B4-BE49-F238E27FC236}">
                <a16:creationId xmlns:a16="http://schemas.microsoft.com/office/drawing/2014/main" id="{EF95F4BC-6748-4B87-BDEE-32A610036FF5}"/>
              </a:ext>
            </a:extLst>
          </p:cNvPr>
          <p:cNvSpPr>
            <a:spLocks noGrp="1"/>
          </p:cNvSpPr>
          <p:nvPr/>
        </p:nvSpPr>
        <p:spPr>
          <a:xfrm>
            <a:off x="8286750" y="1181100"/>
            <a:ext cx="2457450" cy="1905000"/>
          </a:xfrm>
          <a:prstGeom prst="rect">
            <a:avLst/>
          </a:prstGeom>
          <a:noFill/>
          <a:ln w="0">
            <a:noFill/>
            <a:prstDash val="solid"/>
          </a:ln>
        </p:spPr>
        <p:txBody>
          <a:bodyPr lIns="0" tIns="0" rIns="0" bIns="0" anchor="ctr"/>
          <a:lstStyle/>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CONTROL</a:t>
            </a:r>
          </a:p>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a:t>
            </a:r>
          </a:p>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REJECTION</a:t>
            </a:r>
          </a:p>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a:t>
            </a:r>
          </a:p>
          <a:p>
            <a:pPr algn="ctr">
              <a:defRPr sz="2175" b="1">
                <a:solidFill>
                  <a:srgbClr val="FFFFFF"/>
                </a:solidFill>
                <a:latin typeface="Aptos Display"/>
                <a:ea typeface="Aptos Display"/>
                <a:cs typeface="Aptos Display"/>
              </a:defRPr>
            </a:pPr>
            <a:r>
              <a:rPr sz="2175" b="1">
                <a:solidFill>
                  <a:srgbClr val="FFFFFF"/>
                </a:solidFill>
                <a:latin typeface="Aptos Display"/>
                <a:ea typeface="Aptos Display"/>
                <a:cs typeface="Aptos Display"/>
              </a:rPr>
              <a:t>EVIDENCE</a:t>
            </a:r>
          </a:p>
        </p:txBody>
      </p:sp>
      <p:sp>
        <p:nvSpPr>
          <p:cNvPr id="6" name="Rectangle 5">
            <a:extLst>
              <a:ext uri="{FF2B5EF4-FFF2-40B4-BE49-F238E27FC236}">
                <a16:creationId xmlns:a16="http://schemas.microsoft.com/office/drawing/2014/main" id="{F39AAE3F-31FC-4787-8449-EDE66A095D96}"/>
              </a:ext>
            </a:extLst>
          </p:cNvPr>
          <p:cNvSpPr>
            <a:spLocks noGrp="1"/>
          </p:cNvSpPr>
          <p:nvPr/>
        </p:nvSpPr>
        <p:spPr>
          <a:xfrm>
            <a:off x="666750" y="3695700"/>
            <a:ext cx="10420350" cy="9525"/>
          </a:xfrm>
          <a:prstGeom prst="rect">
            <a:avLst/>
          </a:prstGeom>
          <a:solidFill>
            <a:srgbClr val="55585E"/>
          </a:solidFill>
          <a:ln w="0">
            <a:noFill/>
            <a:prstDash val="solid"/>
          </a:ln>
        </p:spPr>
        <p:txBody>
          <a:bodyPr/>
          <a:lstStyle/>
          <a:p>
            <a:endParaRPr lang="en-LK"/>
          </a:p>
        </p:txBody>
      </p:sp>
      <p:sp>
        <p:nvSpPr>
          <p:cNvPr id="7" name="Rectangle 6">
            <a:extLst>
              <a:ext uri="{FF2B5EF4-FFF2-40B4-BE49-F238E27FC236}">
                <a16:creationId xmlns:a16="http://schemas.microsoft.com/office/drawing/2014/main" id="{A2C7669C-19DF-4FC1-9D79-2D5225C25404}"/>
              </a:ext>
            </a:extLst>
          </p:cNvPr>
          <p:cNvSpPr>
            <a:spLocks noGrp="1"/>
          </p:cNvSpPr>
          <p:nvPr/>
        </p:nvSpPr>
        <p:spPr>
          <a:xfrm>
            <a:off x="685800" y="4095750"/>
            <a:ext cx="2095500" cy="304800"/>
          </a:xfrm>
          <a:prstGeom prst="rect">
            <a:avLst/>
          </a:prstGeom>
          <a:noFill/>
          <a:ln w="0">
            <a:noFill/>
            <a:prstDash val="solid"/>
          </a:ln>
        </p:spPr>
        <p:txBody>
          <a:bodyPr lIns="0" tIns="0" rIns="0" bIns="0" anchor="t"/>
          <a:lstStyle/>
          <a:p>
            <a:pPr algn="l">
              <a:defRPr sz="1350" b="1">
                <a:solidFill>
                  <a:srgbClr val="8FA7FF"/>
                </a:solidFill>
                <a:latin typeface="Aptos"/>
                <a:ea typeface="Aptos"/>
                <a:cs typeface="Aptos"/>
              </a:defRPr>
            </a:pPr>
            <a:r>
              <a:rPr sz="1350" b="1">
                <a:solidFill>
                  <a:srgbClr val="8FA7FF"/>
                </a:solidFill>
                <a:latin typeface="Aptos"/>
                <a:ea typeface="Aptos"/>
                <a:cs typeface="Aptos"/>
              </a:rPr>
              <a:t>Implemented</a:t>
            </a:r>
          </a:p>
        </p:txBody>
      </p:sp>
      <p:sp>
        <p:nvSpPr>
          <p:cNvPr id="8" name="Rectangle 7">
            <a:extLst>
              <a:ext uri="{FF2B5EF4-FFF2-40B4-BE49-F238E27FC236}">
                <a16:creationId xmlns:a16="http://schemas.microsoft.com/office/drawing/2014/main" id="{7BE0EDCD-4548-4D98-ADFA-CA75F38669F6}"/>
              </a:ext>
            </a:extLst>
          </p:cNvPr>
          <p:cNvSpPr>
            <a:spLocks noGrp="1"/>
          </p:cNvSpPr>
          <p:nvPr/>
        </p:nvSpPr>
        <p:spPr>
          <a:xfrm>
            <a:off x="685800" y="4514850"/>
            <a:ext cx="4286250" cy="1104900"/>
          </a:xfrm>
          <a:prstGeom prst="rect">
            <a:avLst/>
          </a:prstGeom>
          <a:noFill/>
          <a:ln w="0">
            <a:noFill/>
            <a:prstDash val="solid"/>
          </a:ln>
        </p:spPr>
        <p:txBody>
          <a:bodyPr lIns="0" tIns="0" rIns="0" bIns="0" anchor="t"/>
          <a:lstStyle/>
          <a:p>
            <a:pPr algn="l">
              <a:defRPr sz="1575" b="0">
                <a:solidFill>
                  <a:srgbClr val="FFFFFF"/>
                </a:solidFill>
                <a:latin typeface="Aptos"/>
                <a:ea typeface="Aptos"/>
                <a:cs typeface="Aptos"/>
              </a:defRPr>
            </a:pPr>
            <a:r>
              <a:rPr sz="1575" b="0">
                <a:solidFill>
                  <a:srgbClr val="FFFFFF"/>
                </a:solidFill>
                <a:latin typeface="Aptos"/>
                <a:ea typeface="Aptos"/>
                <a:cs typeface="Aptos"/>
              </a:rPr>
              <a:t>Encryption and signatures</a:t>
            </a:r>
          </a:p>
          <a:p>
            <a:pPr algn="l">
              <a:defRPr sz="1575" b="0">
                <a:solidFill>
                  <a:srgbClr val="FFFFFF"/>
                </a:solidFill>
                <a:latin typeface="Aptos"/>
                <a:ea typeface="Aptos"/>
                <a:cs typeface="Aptos"/>
              </a:defRPr>
            </a:pPr>
            <a:r>
              <a:rPr sz="1575" b="0">
                <a:solidFill>
                  <a:srgbClr val="FFFFFF"/>
                </a:solidFill>
                <a:latin typeface="Aptos"/>
                <a:ea typeface="Aptos"/>
                <a:cs typeface="Aptos"/>
              </a:rPr>
              <a:t>Secure transport and identity</a:t>
            </a:r>
          </a:p>
          <a:p>
            <a:pPr algn="l">
              <a:defRPr sz="1575" b="0">
                <a:solidFill>
                  <a:srgbClr val="FFFFFF"/>
                </a:solidFill>
                <a:latin typeface="Aptos"/>
                <a:ea typeface="Aptos"/>
                <a:cs typeface="Aptos"/>
              </a:defRPr>
            </a:pPr>
            <a:r>
              <a:rPr sz="1575" b="0">
                <a:solidFill>
                  <a:srgbClr val="FFFFFF"/>
                </a:solidFill>
                <a:latin typeface="Aptos"/>
                <a:ea typeface="Aptos"/>
                <a:cs typeface="Aptos"/>
              </a:rPr>
              <a:t>WAF, SIEM, audit and restore</a:t>
            </a:r>
          </a:p>
        </p:txBody>
      </p:sp>
      <p:sp>
        <p:nvSpPr>
          <p:cNvPr id="9" name="Rectangle 8">
            <a:extLst>
              <a:ext uri="{FF2B5EF4-FFF2-40B4-BE49-F238E27FC236}">
                <a16:creationId xmlns:a16="http://schemas.microsoft.com/office/drawing/2014/main" id="{9FDDB73D-C5BA-4032-B0B2-EC0E6CC645E8}"/>
              </a:ext>
            </a:extLst>
          </p:cNvPr>
          <p:cNvSpPr>
            <a:spLocks noGrp="1"/>
          </p:cNvSpPr>
          <p:nvPr/>
        </p:nvSpPr>
        <p:spPr>
          <a:xfrm>
            <a:off x="5981700" y="4095750"/>
            <a:ext cx="3429000" cy="304800"/>
          </a:xfrm>
          <a:prstGeom prst="rect">
            <a:avLst/>
          </a:prstGeom>
          <a:noFill/>
          <a:ln w="0">
            <a:noFill/>
            <a:prstDash val="solid"/>
          </a:ln>
        </p:spPr>
        <p:txBody>
          <a:bodyPr lIns="0" tIns="0" rIns="0" bIns="0" anchor="t"/>
          <a:lstStyle/>
          <a:p>
            <a:pPr algn="l">
              <a:defRPr sz="1350" b="1">
                <a:solidFill>
                  <a:srgbClr val="8FA7FF"/>
                </a:solidFill>
                <a:latin typeface="Aptos"/>
                <a:ea typeface="Aptos"/>
                <a:cs typeface="Aptos"/>
              </a:defRPr>
            </a:pPr>
            <a:r>
              <a:rPr sz="1350" b="1">
                <a:solidFill>
                  <a:srgbClr val="8FA7FF"/>
                </a:solidFill>
                <a:latin typeface="Aptos"/>
                <a:ea typeface="Aptos"/>
                <a:cs typeface="Aptos"/>
              </a:rPr>
              <a:t>Prototype-only boundaries</a:t>
            </a:r>
          </a:p>
        </p:txBody>
      </p:sp>
      <p:sp>
        <p:nvSpPr>
          <p:cNvPr id="10" name="Rectangle 9">
            <a:extLst>
              <a:ext uri="{FF2B5EF4-FFF2-40B4-BE49-F238E27FC236}">
                <a16:creationId xmlns:a16="http://schemas.microsoft.com/office/drawing/2014/main" id="{48187CB9-8EEE-42C1-BA67-8BF259E4A85A}"/>
              </a:ext>
            </a:extLst>
          </p:cNvPr>
          <p:cNvSpPr>
            <a:spLocks noGrp="1"/>
          </p:cNvSpPr>
          <p:nvPr/>
        </p:nvSpPr>
        <p:spPr>
          <a:xfrm>
            <a:off x="5981700" y="4514850"/>
            <a:ext cx="5105400" cy="1104900"/>
          </a:xfrm>
          <a:prstGeom prst="rect">
            <a:avLst/>
          </a:prstGeom>
          <a:noFill/>
          <a:ln w="0">
            <a:noFill/>
            <a:prstDash val="solid"/>
          </a:ln>
        </p:spPr>
        <p:txBody>
          <a:bodyPr lIns="0" tIns="0" rIns="0" bIns="0" anchor="t"/>
          <a:lstStyle/>
          <a:p>
            <a:pPr algn="l">
              <a:defRPr sz="1500" b="0">
                <a:solidFill>
                  <a:srgbClr val="D5D7DB"/>
                </a:solidFill>
                <a:latin typeface="Aptos"/>
                <a:ea typeface="Aptos"/>
                <a:cs typeface="Aptos"/>
              </a:defRPr>
            </a:pPr>
            <a:r>
              <a:rPr sz="1500" b="0">
                <a:solidFill>
                  <a:srgbClr val="D5D7DB"/>
                </a:solidFill>
                <a:latin typeface="Aptos"/>
                <a:ea typeface="Aptos"/>
                <a:cs typeface="Aptos"/>
              </a:rPr>
              <a:t>Software key service, not certified HSM</a:t>
            </a:r>
          </a:p>
          <a:p>
            <a:pPr algn="l">
              <a:defRPr sz="1500" b="0">
                <a:solidFill>
                  <a:srgbClr val="D5D7DB"/>
                </a:solidFill>
                <a:latin typeface="Aptos"/>
                <a:ea typeface="Aptos"/>
                <a:cs typeface="Aptos"/>
              </a:defRPr>
            </a:pPr>
            <a:r>
              <a:rPr sz="1500" b="0">
                <a:solidFill>
                  <a:srgbClr val="D5D7DB"/>
                </a:solidFill>
                <a:latin typeface="Aptos"/>
                <a:ea typeface="Aptos"/>
                <a:cs typeface="Aptos"/>
              </a:rPr>
              <a:t>Docker segmentation, not physical NGFW</a:t>
            </a:r>
          </a:p>
          <a:p>
            <a:pPr algn="l">
              <a:defRPr sz="1500" b="0">
                <a:solidFill>
                  <a:srgbClr val="D5D7DB"/>
                </a:solidFill>
                <a:latin typeface="Aptos"/>
                <a:ea typeface="Aptos"/>
                <a:cs typeface="Aptos"/>
              </a:defRPr>
            </a:pPr>
            <a:r>
              <a:rPr sz="1500" b="0">
                <a:solidFill>
                  <a:srgbClr val="D5D7DB"/>
                </a:solidFill>
                <a:latin typeface="Aptos"/>
                <a:ea typeface="Aptos"/>
                <a:cs typeface="Aptos"/>
              </a:rPr>
              <a:t>One-host DR; browser OTP is not production MFA</a:t>
            </a:r>
          </a:p>
        </p:txBody>
      </p:sp>
      <p:sp>
        <p:nvSpPr>
          <p:cNvPr id="11" name="Rectangle 10">
            <a:extLst>
              <a:ext uri="{FF2B5EF4-FFF2-40B4-BE49-F238E27FC236}">
                <a16:creationId xmlns:a16="http://schemas.microsoft.com/office/drawing/2014/main" id="{AEB9D1F1-72AB-4439-B614-BA7474E069CA}"/>
              </a:ext>
            </a:extLst>
          </p:cNvPr>
          <p:cNvSpPr>
            <a:spLocks noGrp="1"/>
          </p:cNvSpPr>
          <p:nvPr/>
        </p:nvSpPr>
        <p:spPr>
          <a:xfrm>
            <a:off x="685800" y="6248400"/>
            <a:ext cx="4000500" cy="228600"/>
          </a:xfrm>
          <a:prstGeom prst="rect">
            <a:avLst/>
          </a:prstGeom>
          <a:noFill/>
          <a:ln w="0">
            <a:noFill/>
            <a:prstDash val="solid"/>
          </a:ln>
        </p:spPr>
        <p:txBody>
          <a:bodyPr lIns="0" tIns="0" rIns="0" bIns="0" anchor="t"/>
          <a:lstStyle/>
          <a:p>
            <a:pPr algn="l">
              <a:defRPr sz="1050" b="0">
                <a:solidFill>
                  <a:srgbClr val="989CA3"/>
                </a:solidFill>
                <a:latin typeface="Cascadia Mono"/>
                <a:ea typeface="Cascadia Mono"/>
                <a:cs typeface="Cascadia Mono"/>
              </a:defRPr>
            </a:pPr>
            <a:r>
              <a:rPr sz="1050" b="0">
                <a:solidFill>
                  <a:srgbClr val="989CA3"/>
                </a:solidFill>
                <a:latin typeface="Cascadia Mono"/>
                <a:ea typeface="Cascadia Mono"/>
                <a:cs typeface="Cascadia Mono"/>
              </a:rPr>
              <a:t>Secure Bank · synthetic data only</a:t>
            </a:r>
          </a:p>
        </p:txBody>
      </p:sp>
      <p:sp>
        <p:nvSpPr>
          <p:cNvPr id="12" name="Rectangle 11">
            <a:extLst>
              <a:ext uri="{FF2B5EF4-FFF2-40B4-BE49-F238E27FC236}">
                <a16:creationId xmlns:a16="http://schemas.microsoft.com/office/drawing/2014/main" id="{B97D5D66-522D-4BA9-82F1-5720B7909A10}"/>
              </a:ext>
            </a:extLst>
          </p:cNvPr>
          <p:cNvSpPr>
            <a:spLocks noGrp="1"/>
          </p:cNvSpPr>
          <p:nvPr/>
        </p:nvSpPr>
        <p:spPr>
          <a:xfrm>
            <a:off x="9639300" y="6172200"/>
            <a:ext cx="1447800" cy="285750"/>
          </a:xfrm>
          <a:prstGeom prst="rect">
            <a:avLst/>
          </a:prstGeom>
          <a:noFill/>
          <a:ln w="0">
            <a:noFill/>
            <a:prstDash val="solid"/>
          </a:ln>
        </p:spPr>
        <p:txBody>
          <a:bodyPr lIns="0" tIns="0" rIns="0" bIns="0" anchor="t"/>
          <a:lstStyle/>
          <a:p>
            <a:pPr algn="r">
              <a:defRPr sz="1650" b="1">
                <a:solidFill>
                  <a:srgbClr val="8FA7FF"/>
                </a:solidFill>
                <a:latin typeface="Aptos Display"/>
                <a:ea typeface="Aptos Display"/>
                <a:cs typeface="Aptos Display"/>
              </a:defRPr>
            </a:pPr>
            <a:r>
              <a:rPr sz="1650" b="1">
                <a:solidFill>
                  <a:srgbClr val="8FA7FF"/>
                </a:solidFill>
                <a:latin typeface="Aptos Display"/>
                <a:ea typeface="Aptos Display"/>
                <a:cs typeface="Aptos Display"/>
              </a:rPr>
              <a:t>Questions</a:t>
            </a:r>
          </a:p>
        </p:txBody>
      </p:sp>
    </p:spTree>
    <p:extLst>
      <p:ext uri="{BB962C8B-B14F-4D97-AF65-F5344CB8AC3E}">
        <p14:creationId xmlns:p14="http://schemas.microsoft.com/office/powerpoint/2010/main" val="179452960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1295</Words>
  <Application>Microsoft Macintosh PowerPoint</Application>
  <DocSecurity>0</DocSecurity>
  <PresentationFormat>Widescreen</PresentationFormat>
  <Paragraphs>160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Cascadia Mono</vt:lpstr>
      <vt:lpstr>Aptos</vt:lpstr>
      <vt:lpstr>Aptos Display</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SAMARASINGHA G M N</cp:lastModifiedBy>
  <cp:revision>3</cp:revision>
  <dcterms:created xsi:type="dcterms:W3CDTF">2026-07-24T18:32:31Z</dcterms:created>
  <dcterms:modified xsi:type="dcterms:W3CDTF">2026-07-25T09:30:23Z</dcterms:modified>
</cp:coreProperties>
</file>